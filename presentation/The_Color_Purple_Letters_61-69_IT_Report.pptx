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0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931920"/>
            <a:ext cx="10515600" cy="548640"/>
          </a:xfrm>
          <a:prstGeom prst="rect">
            <a:avLst/>
          </a:prstGeom>
          <a:noFill/>
        </p:spPr>
        <p:txBody>
          <a:bodyPr wrap="square">
            <a:spAutoFit/>
          </a:bodyPr>
          <a:lstStyle/>
          <a:p>
            <a:pPr>
              <a:defRPr sz="1400" b="1">
                <a:solidFill>
                  <a:srgbClr val="F5F2EB"/>
                </a:solidFill>
                <a:latin typeface="Segoe UI"/>
              </a:defRPr>
            </a:pPr>
            <a:r>
              <a:t>A L I C E   W A L K E R</a:t>
            </a:r>
          </a:p>
        </p:txBody>
      </p:sp>
      <p:sp>
        <p:nvSpPr>
          <p:cNvPr id="4" name="TextBox 3"/>
          <p:cNvSpPr txBox="1"/>
          <p:nvPr/>
        </p:nvSpPr>
        <p:spPr>
          <a:xfrm>
            <a:off x="731520" y="4343400"/>
            <a:ext cx="10515600" cy="1645920"/>
          </a:xfrm>
          <a:prstGeom prst="rect">
            <a:avLst/>
          </a:prstGeom>
          <a:noFill/>
        </p:spPr>
        <p:txBody>
          <a:bodyPr wrap="square">
            <a:spAutoFit/>
          </a:bodyPr>
          <a:lstStyle/>
          <a:p>
            <a:pPr>
              <a:defRPr sz="5600" b="1" i="1">
                <a:solidFill>
                  <a:srgbClr val="F5F2EB"/>
                </a:solidFill>
                <a:latin typeface="Georgia"/>
              </a:defRPr>
            </a:pPr>
            <a:r>
              <a:t>The Color Purple</a:t>
            </a:r>
          </a:p>
          <a:p>
            <a:pPr>
              <a:spcBef>
                <a:spcPts val="600"/>
              </a:spcBef>
              <a:defRPr sz="1300">
                <a:solidFill>
                  <a:srgbClr val="D2B9EB"/>
                </a:solidFill>
                <a:latin typeface="Segoe UI"/>
              </a:defRPr>
            </a:pPr>
            <a:r>
              <a:t>A Critical Analysis of the Novel with Deep Focus on Letters 61–69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480560"/>
            <a:ext cx="5029200" cy="457200"/>
          </a:xfrm>
          <a:prstGeom prst="rect">
            <a:avLst/>
          </a:prstGeom>
          <a:noFill/>
        </p:spPr>
        <p:txBody>
          <a:bodyPr wrap="none">
            <a:spAutoFit/>
          </a:bodyPr>
          <a:lstStyle/>
          <a:p>
            <a:pPr>
              <a:defRPr sz="1200" b="1">
                <a:solidFill>
                  <a:srgbClr val="4A1C70"/>
                </a:solidFill>
                <a:latin typeface="Segoe UI"/>
              </a:defRPr>
            </a:pPr>
            <a:r>
              <a:t>G R O U P   R E P O R T I N G</a:t>
            </a:r>
          </a:p>
        </p:txBody>
      </p:sp>
      <p:sp>
        <p:nvSpPr>
          <p:cNvPr id="4" name="TextBox 3"/>
          <p:cNvSpPr txBox="1"/>
          <p:nvPr/>
        </p:nvSpPr>
        <p:spPr>
          <a:xfrm>
            <a:off x="731520" y="4846320"/>
            <a:ext cx="5029200" cy="1280160"/>
          </a:xfrm>
          <a:prstGeom prst="rect">
            <a:avLst/>
          </a:prstGeom>
          <a:noFill/>
        </p:spPr>
        <p:txBody>
          <a:bodyPr wrap="none">
            <a:spAutoFit/>
          </a:bodyPr>
          <a:lstStyle/>
          <a:p>
            <a:pPr>
              <a:defRPr sz="5200" b="1" i="1">
                <a:solidFill>
                  <a:srgbClr val="4A1C70"/>
                </a:solidFill>
                <a:latin typeface="Georgia"/>
              </a:defRPr>
            </a:pPr>
            <a:r>
              <a:t>Reporters</a:t>
            </a:r>
          </a:p>
        </p:txBody>
      </p:sp>
      <p:sp>
        <p:nvSpPr>
          <p:cNvPr id="5" name="TextBox 4"/>
          <p:cNvSpPr txBox="1"/>
          <p:nvPr/>
        </p:nvSpPr>
        <p:spPr>
          <a:xfrm>
            <a:off x="6217920" y="4663440"/>
            <a:ext cx="5303520" cy="1645920"/>
          </a:xfrm>
          <a:prstGeom prst="rect">
            <a:avLst/>
          </a:prstGeom>
          <a:noFill/>
        </p:spPr>
        <p:txBody>
          <a:bodyPr wrap="square">
            <a:spAutoFit/>
          </a:bodyPr>
          <a:lstStyle/>
          <a:p>
            <a:pPr>
              <a:spcAft>
                <a:spcPts val="400"/>
              </a:spcAft>
              <a:defRPr sz="1200" b="1">
                <a:solidFill>
                  <a:srgbClr val="4A1C70"/>
                </a:solidFill>
                <a:latin typeface="Segoe UI"/>
              </a:defRPr>
            </a:pPr>
            <a:r>
              <a:t>B A R A Q U I E L ,   D A N I L Y N   K R I X T I N</a:t>
            </a:r>
          </a:p>
          <a:p>
            <a:pPr>
              <a:spcAft>
                <a:spcPts val="400"/>
              </a:spcAft>
              <a:defRPr sz="1200" b="1">
                <a:solidFill>
                  <a:srgbClr val="4A1C70"/>
                </a:solidFill>
                <a:latin typeface="Segoe UI"/>
              </a:defRPr>
            </a:pPr>
            <a:r>
              <a:t>B O R R O M E O ,   K A T H L E E N   A N N</a:t>
            </a:r>
          </a:p>
          <a:p>
            <a:pPr>
              <a:spcAft>
                <a:spcPts val="400"/>
              </a:spcAft>
              <a:defRPr sz="1200" b="1">
                <a:solidFill>
                  <a:srgbClr val="4A1C70"/>
                </a:solidFill>
                <a:latin typeface="Segoe UI"/>
              </a:defRPr>
            </a:pPr>
            <a:r>
              <a:t>L O N T O C ,   L E I N A R D T</a:t>
            </a:r>
          </a:p>
          <a:p>
            <a:pPr>
              <a:spcAft>
                <a:spcPts val="400"/>
              </a:spcAft>
              <a:defRPr sz="1200" b="1">
                <a:solidFill>
                  <a:srgbClr val="5A5064"/>
                </a:solidFill>
                <a:latin typeface="Segoe UI"/>
              </a:defRPr>
            </a:pPr>
            <a:r>
              <a:t>I T   B A C K G R O U N D   &amp;   S Y S T E M S   A N A L Y S I 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188720"/>
            <a:ext cx="2011680" cy="301752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1280160"/>
            <a:ext cx="731520" cy="731520"/>
          </a:xfrm>
          <a:prstGeom prst="rect">
            <a:avLst/>
          </a:prstGeom>
          <a:noFill/>
        </p:spPr>
        <p:txBody>
          <a:bodyPr wrap="none" lIns="0" tIns="0" rIns="0" bIns="0">
            <a:spAutoFit/>
          </a:bodyPr>
          <a:lstStyle/>
          <a:p>
            <a:pPr>
              <a:defRPr sz="1800" b="1">
                <a:solidFill>
                  <a:srgbClr val="4A1C70"/>
                </a:solidFill>
                <a:latin typeface="Georgia"/>
              </a:defRPr>
            </a:pPr>
            <a:r>
              <a:t>A</a:t>
            </a:r>
          </a:p>
          <a:p>
            <a:pPr>
              <a:defRPr sz="1400">
                <a:solidFill>
                  <a:srgbClr val="4A1C70"/>
                </a:solidFill>
              </a:defRPr>
            </a:pPr>
            <a:r>
              <a:t>♠</a:t>
            </a:r>
          </a:p>
        </p:txBody>
      </p:sp>
      <p:sp>
        <p:nvSpPr>
          <p:cNvPr id="5" name="TextBox 4"/>
          <p:cNvSpPr txBox="1"/>
          <p:nvPr/>
        </p:nvSpPr>
        <p:spPr>
          <a:xfrm>
            <a:off x="1280160" y="2148840"/>
            <a:ext cx="1645920" cy="1097280"/>
          </a:xfrm>
          <a:prstGeom prst="rect">
            <a:avLst/>
          </a:prstGeom>
          <a:noFill/>
        </p:spPr>
        <p:txBody>
          <a:bodyPr wrap="none" lIns="0" tIns="0" rIns="0" bIns="0">
            <a:spAutoFit/>
          </a:bodyPr>
          <a:lstStyle/>
          <a:p>
            <a:pPr algn="ctr">
              <a:defRPr sz="3600">
                <a:solidFill>
                  <a:srgbClr val="4A1C70"/>
                </a:solidFill>
              </a:defRPr>
            </a:pPr>
            <a:r>
              <a:t>♠</a:t>
            </a:r>
          </a:p>
        </p:txBody>
      </p:sp>
      <p:sp>
        <p:nvSpPr>
          <p:cNvPr id="6" name="TextBox 5"/>
          <p:cNvSpPr txBox="1"/>
          <p:nvPr/>
        </p:nvSpPr>
        <p:spPr>
          <a:xfrm>
            <a:off x="2377440" y="3429000"/>
            <a:ext cx="621792" cy="731520"/>
          </a:xfrm>
          <a:prstGeom prst="rect">
            <a:avLst/>
          </a:prstGeom>
          <a:noFill/>
        </p:spPr>
        <p:txBody>
          <a:bodyPr wrap="none" lIns="0" tIns="0" rIns="0" bIns="0">
            <a:spAutoFit/>
          </a:bodyPr>
          <a:lstStyle/>
          <a:p>
            <a:pPr algn="r">
              <a:defRPr sz="1400">
                <a:solidFill>
                  <a:srgbClr val="4A1C70"/>
                </a:solidFill>
              </a:defRPr>
            </a:pPr>
            <a:r>
              <a:t>♠</a:t>
            </a:r>
          </a:p>
          <a:p>
            <a:pPr algn="r">
              <a:defRPr sz="1800" b="1">
                <a:solidFill>
                  <a:srgbClr val="4A1C70"/>
                </a:solidFill>
                <a:latin typeface="Georgia"/>
              </a:defRPr>
            </a:pPr>
            <a:r>
              <a:t>A</a:t>
            </a:r>
          </a:p>
        </p:txBody>
      </p:sp>
      <p:sp>
        <p:nvSpPr>
          <p:cNvPr id="7" name="TextBox 6"/>
          <p:cNvSpPr txBox="1"/>
          <p:nvPr/>
        </p:nvSpPr>
        <p:spPr>
          <a:xfrm>
            <a:off x="822960" y="4389120"/>
            <a:ext cx="2560320" cy="1371600"/>
          </a:xfrm>
          <a:prstGeom prst="rect">
            <a:avLst/>
          </a:prstGeom>
          <a:noFill/>
        </p:spPr>
        <p:txBody>
          <a:bodyPr wrap="square">
            <a:spAutoFit/>
          </a:bodyPr>
          <a:lstStyle/>
          <a:p>
            <a:pPr>
              <a:defRPr sz="3200" b="1" i="1">
                <a:solidFill>
                  <a:srgbClr val="4A1C70"/>
                </a:solidFill>
                <a:latin typeface="Georgia"/>
              </a:defRPr>
            </a:pPr>
            <a:r>
              <a:t>Historical</a:t>
            </a:r>
          </a:p>
          <a:p>
            <a:pPr>
              <a:defRPr sz="3200" b="1" i="1">
                <a:solidFill>
                  <a:srgbClr val="4A1C70"/>
                </a:solidFill>
                <a:latin typeface="Georgia"/>
              </a:defRPr>
            </a:pPr>
            <a:r>
              <a:t>Timeline</a:t>
            </a:r>
          </a:p>
        </p:txBody>
      </p:sp>
      <p:sp>
        <p:nvSpPr>
          <p:cNvPr id="8" name="TextBox 7"/>
          <p:cNvSpPr txBox="1"/>
          <p:nvPr/>
        </p:nvSpPr>
        <p:spPr>
          <a:xfrm>
            <a:off x="3840480" y="1051560"/>
            <a:ext cx="7589520" cy="365760"/>
          </a:xfrm>
          <a:prstGeom prst="rect">
            <a:avLst/>
          </a:prstGeom>
          <a:noFill/>
        </p:spPr>
        <p:txBody>
          <a:bodyPr wrap="none">
            <a:spAutoFit/>
          </a:bodyPr>
          <a:lstStyle/>
          <a:p>
            <a:pPr>
              <a:defRPr sz="1100" b="1">
                <a:solidFill>
                  <a:srgbClr val="4A1C70"/>
                </a:solidFill>
                <a:latin typeface="Segoe UI"/>
              </a:defRPr>
            </a:pPr>
            <a:r>
              <a:t>GENESIS, COMPOSITION &amp; 1982 PUBLICATION OF THE BOOK.</a:t>
            </a:r>
          </a:p>
        </p:txBody>
      </p:sp>
      <p:sp>
        <p:nvSpPr>
          <p:cNvPr id="9" name="TextBox 8"/>
          <p:cNvSpPr txBox="1"/>
          <p:nvPr/>
        </p:nvSpPr>
        <p:spPr>
          <a:xfrm>
            <a:off x="3840480" y="1463040"/>
            <a:ext cx="7589520" cy="1051560"/>
          </a:xfrm>
          <a:prstGeom prst="rect">
            <a:avLst/>
          </a:prstGeom>
          <a:noFill/>
        </p:spPr>
        <p:txBody>
          <a:bodyPr wrap="square" lIns="0" tIns="0" rIns="0" bIns="0">
            <a:spAutoFit/>
          </a:bodyPr>
          <a:lstStyle/>
          <a:p>
            <a:pPr>
              <a:defRPr sz="1050" b="1" u="sng">
                <a:solidFill>
                  <a:srgbClr val="221E28"/>
                </a:solidFill>
                <a:latin typeface="Segoe UI"/>
              </a:defRPr>
            </a:pPr>
            <a:r>
              <a:t>• c. Late 1970s (The Ancestral Inspiration) </a:t>
            </a:r>
            <a:r>
              <a:rPr b="0" u="none">
                <a:solidFill>
                  <a:srgbClr val="221E28"/>
                </a:solidFill>
              </a:rPr>
              <a:t>Alice Walker conceived the novel inspired by the lived oral histories, folk resilience, and struggles of her maternal grandparents in rural Georgia, aiming to give voice to historically silenced Southern Black women.</a:t>
            </a:r>
          </a:p>
        </p:txBody>
      </p:sp>
      <p:sp>
        <p:nvSpPr>
          <p:cNvPr id="10" name="Rectangle 9"/>
          <p:cNvSpPr/>
          <p:nvPr/>
        </p:nvSpPr>
        <p:spPr>
          <a:xfrm>
            <a:off x="3840480" y="2542032"/>
            <a:ext cx="7589520" cy="16459"/>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0" y="2670048"/>
            <a:ext cx="7589520" cy="1051560"/>
          </a:xfrm>
          <a:prstGeom prst="rect">
            <a:avLst/>
          </a:prstGeom>
          <a:noFill/>
        </p:spPr>
        <p:txBody>
          <a:bodyPr wrap="square" lIns="0" tIns="0" rIns="0" bIns="0">
            <a:spAutoFit/>
          </a:bodyPr>
          <a:lstStyle/>
          <a:p>
            <a:pPr>
              <a:defRPr sz="1050" b="1" u="sng">
                <a:solidFill>
                  <a:srgbClr val="221E28"/>
                </a:solidFill>
                <a:latin typeface="Segoe UI"/>
              </a:defRPr>
            </a:pPr>
            <a:r>
              <a:t>• 1980–1981 (The Northern California Writing Retreat) </a:t>
            </a:r>
            <a:r>
              <a:rPr b="0" u="none">
                <a:solidFill>
                  <a:srgbClr val="221E28"/>
                </a:solidFill>
              </a:rPr>
              <a:t>To escape the noise of New York City, Walker moved to a secluded home in Boonville (Mendocino County), California, creating a serene sanctuary so characters Celie, Shug, and Albert could 'visit' and speak in authentic vernacular.</a:t>
            </a:r>
          </a:p>
        </p:txBody>
      </p:sp>
      <p:sp>
        <p:nvSpPr>
          <p:cNvPr id="12" name="Rectangle 11"/>
          <p:cNvSpPr/>
          <p:nvPr/>
        </p:nvSpPr>
        <p:spPr>
          <a:xfrm>
            <a:off x="3840480" y="3749040"/>
            <a:ext cx="7589520" cy="16459"/>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0" y="3877056"/>
            <a:ext cx="7589520" cy="1051560"/>
          </a:xfrm>
          <a:prstGeom prst="rect">
            <a:avLst/>
          </a:prstGeom>
          <a:noFill/>
        </p:spPr>
        <p:txBody>
          <a:bodyPr wrap="square" lIns="0" tIns="0" rIns="0" bIns="0">
            <a:spAutoFit/>
          </a:bodyPr>
          <a:lstStyle/>
          <a:p>
            <a:pPr>
              <a:defRPr sz="1050" b="1" u="sng">
                <a:solidFill>
                  <a:srgbClr val="221E28"/>
                </a:solidFill>
                <a:latin typeface="Segoe UI"/>
              </a:defRPr>
            </a:pPr>
            <a:r>
              <a:t>• Spring 1982 (First Edition Publication) </a:t>
            </a:r>
            <a:r>
              <a:rPr b="0" u="none">
                <a:solidFill>
                  <a:srgbClr val="221E28"/>
                </a:solidFill>
              </a:rPr>
              <a:t>Published in 1982 by Harcourt Brace Jovanovich as Alice Walker's third novel; instantly hailed as a revolutionary milestone for its epistolary form written entirely in African American Vernacular English (AAVE).</a:t>
            </a:r>
          </a:p>
        </p:txBody>
      </p:sp>
      <p:sp>
        <p:nvSpPr>
          <p:cNvPr id="14" name="Rectangle 13"/>
          <p:cNvSpPr/>
          <p:nvPr/>
        </p:nvSpPr>
        <p:spPr>
          <a:xfrm>
            <a:off x="3840480" y="4956048"/>
            <a:ext cx="7589520" cy="16459"/>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0" y="5084064"/>
            <a:ext cx="7589520" cy="1051560"/>
          </a:xfrm>
          <a:prstGeom prst="rect">
            <a:avLst/>
          </a:prstGeom>
          <a:noFill/>
        </p:spPr>
        <p:txBody>
          <a:bodyPr wrap="square" lIns="0" tIns="0" rIns="0" bIns="0">
            <a:spAutoFit/>
          </a:bodyPr>
          <a:lstStyle/>
          <a:p>
            <a:pPr>
              <a:defRPr sz="1050" b="1" u="sng">
                <a:solidFill>
                  <a:srgbClr val="221E28"/>
                </a:solidFill>
                <a:latin typeface="Segoe UI"/>
              </a:defRPr>
            </a:pPr>
            <a:r>
              <a:t>• 1982–1983 (Critical Reception &amp; Nationwide Discourse) </a:t>
            </a:r>
            <a:r>
              <a:rPr b="0" u="none">
                <a:solidFill>
                  <a:srgbClr val="221E28"/>
                </a:solidFill>
              </a:rPr>
              <a:t>Sparked an impassioned national literary debate; lauded by Black feminist scholars for uncompromised emotional truth and healing, while stirring dialogue over its raw depiction of domestic patriarchy.</a:t>
            </a:r>
          </a:p>
        </p:txBody>
      </p:sp>
      <p:sp>
        <p:nvSpPr>
          <p:cNvPr id="16" name="Rectangle 15"/>
          <p:cNvSpPr/>
          <p:nvPr/>
        </p:nvSpPr>
        <p:spPr>
          <a:xfrm>
            <a:off x="3840480" y="6163056"/>
            <a:ext cx="7589520" cy="16459"/>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188720"/>
            <a:ext cx="2011680" cy="301752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07008" y="1280160"/>
            <a:ext cx="731520" cy="731520"/>
          </a:xfrm>
          <a:prstGeom prst="rect">
            <a:avLst/>
          </a:prstGeom>
          <a:noFill/>
        </p:spPr>
        <p:txBody>
          <a:bodyPr wrap="none" lIns="0" tIns="0" rIns="0" bIns="0">
            <a:spAutoFit/>
          </a:bodyPr>
          <a:lstStyle/>
          <a:p>
            <a:pPr>
              <a:defRPr sz="1800" b="1">
                <a:solidFill>
                  <a:srgbClr val="4A1C70"/>
                </a:solidFill>
                <a:latin typeface="Georgia"/>
              </a:defRPr>
            </a:pPr>
            <a:r>
              <a:t>K</a:t>
            </a:r>
          </a:p>
          <a:p>
            <a:pPr>
              <a:defRPr sz="1400">
                <a:solidFill>
                  <a:srgbClr val="4A1C70"/>
                </a:solidFill>
              </a:defRPr>
            </a:pPr>
            <a:r>
              <a:t>♠</a:t>
            </a:r>
          </a:p>
        </p:txBody>
      </p:sp>
      <p:sp>
        <p:nvSpPr>
          <p:cNvPr id="5" name="TextBox 4"/>
          <p:cNvSpPr txBox="1"/>
          <p:nvPr/>
        </p:nvSpPr>
        <p:spPr>
          <a:xfrm>
            <a:off x="1280160" y="2148840"/>
            <a:ext cx="1645920" cy="1097280"/>
          </a:xfrm>
          <a:prstGeom prst="rect">
            <a:avLst/>
          </a:prstGeom>
          <a:noFill/>
        </p:spPr>
        <p:txBody>
          <a:bodyPr wrap="none" lIns="0" tIns="0" rIns="0" bIns="0">
            <a:spAutoFit/>
          </a:bodyPr>
          <a:lstStyle/>
          <a:p>
            <a:pPr algn="ctr">
              <a:defRPr sz="3600">
                <a:solidFill>
                  <a:srgbClr val="4A1C70"/>
                </a:solidFill>
              </a:defRPr>
            </a:pPr>
            <a:r>
              <a:t>♠</a:t>
            </a:r>
          </a:p>
        </p:txBody>
      </p:sp>
      <p:sp>
        <p:nvSpPr>
          <p:cNvPr id="6" name="TextBox 5"/>
          <p:cNvSpPr txBox="1"/>
          <p:nvPr/>
        </p:nvSpPr>
        <p:spPr>
          <a:xfrm>
            <a:off x="2377440" y="3429000"/>
            <a:ext cx="621792" cy="731520"/>
          </a:xfrm>
          <a:prstGeom prst="rect">
            <a:avLst/>
          </a:prstGeom>
          <a:noFill/>
        </p:spPr>
        <p:txBody>
          <a:bodyPr wrap="none" lIns="0" tIns="0" rIns="0" bIns="0">
            <a:spAutoFit/>
          </a:bodyPr>
          <a:lstStyle/>
          <a:p>
            <a:pPr algn="r">
              <a:defRPr sz="1400">
                <a:solidFill>
                  <a:srgbClr val="4A1C70"/>
                </a:solidFill>
              </a:defRPr>
            </a:pPr>
            <a:r>
              <a:t>♠</a:t>
            </a:r>
          </a:p>
          <a:p>
            <a:pPr algn="r">
              <a:defRPr sz="1800" b="1">
                <a:solidFill>
                  <a:srgbClr val="4A1C70"/>
                </a:solidFill>
                <a:latin typeface="Georgia"/>
              </a:defRPr>
            </a:pPr>
            <a:r>
              <a:t>K</a:t>
            </a:r>
          </a:p>
        </p:txBody>
      </p:sp>
      <p:sp>
        <p:nvSpPr>
          <p:cNvPr id="7" name="TextBox 6"/>
          <p:cNvSpPr txBox="1"/>
          <p:nvPr/>
        </p:nvSpPr>
        <p:spPr>
          <a:xfrm>
            <a:off x="822960" y="4389120"/>
            <a:ext cx="2560320" cy="1371600"/>
          </a:xfrm>
          <a:prstGeom prst="rect">
            <a:avLst/>
          </a:prstGeom>
          <a:noFill/>
        </p:spPr>
        <p:txBody>
          <a:bodyPr wrap="square">
            <a:spAutoFit/>
          </a:bodyPr>
          <a:lstStyle/>
          <a:p>
            <a:pPr>
              <a:defRPr sz="3000" b="1" i="1">
                <a:solidFill>
                  <a:srgbClr val="4A1C70"/>
                </a:solidFill>
                <a:latin typeface="Georgia"/>
              </a:defRPr>
            </a:pPr>
            <a:r>
              <a:t>Book Legacy</a:t>
            </a:r>
          </a:p>
          <a:p>
            <a:pPr>
              <a:defRPr sz="3000" b="1" i="1">
                <a:solidFill>
                  <a:srgbClr val="4A1C70"/>
                </a:solidFill>
                <a:latin typeface="Georgia"/>
              </a:defRPr>
            </a:pPr>
            <a:r>
              <a:t>&amp; Milestones</a:t>
            </a:r>
          </a:p>
        </p:txBody>
      </p:sp>
      <p:sp>
        <p:nvSpPr>
          <p:cNvPr id="8" name="TextBox 7"/>
          <p:cNvSpPr txBox="1"/>
          <p:nvPr/>
        </p:nvSpPr>
        <p:spPr>
          <a:xfrm>
            <a:off x="3840480" y="1051560"/>
            <a:ext cx="7589520" cy="365760"/>
          </a:xfrm>
          <a:prstGeom prst="rect">
            <a:avLst/>
          </a:prstGeom>
          <a:noFill/>
        </p:spPr>
        <p:txBody>
          <a:bodyPr wrap="none">
            <a:spAutoFit/>
          </a:bodyPr>
          <a:lstStyle/>
          <a:p>
            <a:pPr>
              <a:defRPr sz="1100" b="1">
                <a:solidFill>
                  <a:srgbClr val="4A1C70"/>
                </a:solidFill>
                <a:latin typeface="Segoe UI"/>
              </a:defRPr>
            </a:pPr>
            <a:r>
              <a:t>PULITZER TRIUMPH, CENSORSHIP BATTLES &amp; GLOBAL IMPACT (1983–PRESENT).</a:t>
            </a:r>
          </a:p>
        </p:txBody>
      </p:sp>
      <p:sp>
        <p:nvSpPr>
          <p:cNvPr id="9" name="TextBox 8"/>
          <p:cNvSpPr txBox="1"/>
          <p:nvPr/>
        </p:nvSpPr>
        <p:spPr>
          <a:xfrm>
            <a:off x="3840480" y="1463040"/>
            <a:ext cx="7589520" cy="1051560"/>
          </a:xfrm>
          <a:prstGeom prst="rect">
            <a:avLst/>
          </a:prstGeom>
          <a:noFill/>
        </p:spPr>
        <p:txBody>
          <a:bodyPr wrap="square" lIns="0" tIns="0" rIns="0" bIns="0">
            <a:spAutoFit/>
          </a:bodyPr>
          <a:lstStyle/>
          <a:p>
            <a:pPr>
              <a:defRPr sz="1050" b="1" u="sng">
                <a:solidFill>
                  <a:srgbClr val="221E28"/>
                </a:solidFill>
                <a:latin typeface="Segoe UI"/>
              </a:defRPr>
            </a:pPr>
            <a:r>
              <a:t>• 1983 (Historic Pulitzer Prize &amp; National Book Award) </a:t>
            </a:r>
            <a:r>
              <a:rPr b="0" u="none">
                <a:solidFill>
                  <a:srgbClr val="221E28"/>
                </a:solidFill>
              </a:rPr>
              <a:t>Alice Walker made history as the first African-American woman to win the Pulitzer Prize for Fiction; also co-awarded the National Book Award for Fiction, establishing the novel in the permanent global canon.</a:t>
            </a:r>
          </a:p>
        </p:txBody>
      </p:sp>
      <p:sp>
        <p:nvSpPr>
          <p:cNvPr id="10" name="Rectangle 9"/>
          <p:cNvSpPr/>
          <p:nvPr/>
        </p:nvSpPr>
        <p:spPr>
          <a:xfrm>
            <a:off x="3840480" y="2542032"/>
            <a:ext cx="7589520" cy="16459"/>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0" y="2670048"/>
            <a:ext cx="7589520" cy="1051560"/>
          </a:xfrm>
          <a:prstGeom prst="rect">
            <a:avLst/>
          </a:prstGeom>
          <a:noFill/>
        </p:spPr>
        <p:txBody>
          <a:bodyPr wrap="square" lIns="0" tIns="0" rIns="0" bIns="0">
            <a:spAutoFit/>
          </a:bodyPr>
          <a:lstStyle/>
          <a:p>
            <a:pPr>
              <a:defRPr sz="1050" b="1" u="sng">
                <a:solidFill>
                  <a:srgbClr val="221E28"/>
                </a:solidFill>
                <a:latin typeface="Segoe UI"/>
              </a:defRPr>
            </a:pPr>
            <a:r>
              <a:t>• 1984–1990s (Banning &amp; School Censorship Challenges) </a:t>
            </a:r>
            <a:r>
              <a:rPr b="0" u="none">
                <a:solidFill>
                  <a:srgbClr val="221E28"/>
                </a:solidFill>
              </a:rPr>
              <a:t>Ranked continuously on the American Library Association's Most Frequently Challenged Books list due to its frank treatment of race, sexuality, and domestic violence, sparking landmark First Amendment defenses.</a:t>
            </a:r>
          </a:p>
        </p:txBody>
      </p:sp>
      <p:sp>
        <p:nvSpPr>
          <p:cNvPr id="12" name="Rectangle 11"/>
          <p:cNvSpPr/>
          <p:nvPr/>
        </p:nvSpPr>
        <p:spPr>
          <a:xfrm>
            <a:off x="3840480" y="3749040"/>
            <a:ext cx="7589520" cy="16459"/>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0" y="3877056"/>
            <a:ext cx="7589520" cy="1051560"/>
          </a:xfrm>
          <a:prstGeom prst="rect">
            <a:avLst/>
          </a:prstGeom>
          <a:noFill/>
        </p:spPr>
        <p:txBody>
          <a:bodyPr wrap="square" lIns="0" tIns="0" rIns="0" bIns="0">
            <a:spAutoFit/>
          </a:bodyPr>
          <a:lstStyle/>
          <a:p>
            <a:pPr>
              <a:defRPr sz="1050" b="1" u="sng">
                <a:solidFill>
                  <a:srgbClr val="221E28"/>
                </a:solidFill>
                <a:latin typeface="Segoe UI"/>
              </a:defRPr>
            </a:pPr>
            <a:r>
              <a:t>• 1985 &amp; 2005 (Global Cinematic &amp; Broadway Transposition) </a:t>
            </a:r>
            <a:r>
              <a:rPr b="0" u="none">
                <a:solidFill>
                  <a:srgbClr val="221E28"/>
                </a:solidFill>
              </a:rPr>
              <a:t>Adapted into Steven Spielberg's 11-time Oscar-nominated film (1985) and an 11-time Tony-nominated Broadway musical (2005) produced by Oprah Winfrey and Quincy Jones, expanding its cultural reach to millions.</a:t>
            </a:r>
          </a:p>
        </p:txBody>
      </p:sp>
      <p:sp>
        <p:nvSpPr>
          <p:cNvPr id="14" name="Rectangle 13"/>
          <p:cNvSpPr/>
          <p:nvPr/>
        </p:nvSpPr>
        <p:spPr>
          <a:xfrm>
            <a:off x="3840480" y="4956048"/>
            <a:ext cx="7589520" cy="16459"/>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0" y="5084064"/>
            <a:ext cx="7589520" cy="1051560"/>
          </a:xfrm>
          <a:prstGeom prst="rect">
            <a:avLst/>
          </a:prstGeom>
          <a:noFill/>
        </p:spPr>
        <p:txBody>
          <a:bodyPr wrap="square" lIns="0" tIns="0" rIns="0" bIns="0">
            <a:spAutoFit/>
          </a:bodyPr>
          <a:lstStyle/>
          <a:p>
            <a:pPr>
              <a:defRPr sz="1050" b="1" u="sng">
                <a:solidFill>
                  <a:srgbClr val="221E28"/>
                </a:solidFill>
                <a:latin typeface="Segoe UI"/>
              </a:defRPr>
            </a:pPr>
            <a:r>
              <a:t>• 2015–Present (Broadway Revival, Film Musical &amp; 40th Anniversary) </a:t>
            </a:r>
            <a:r>
              <a:rPr b="0" u="none">
                <a:solidFill>
                  <a:srgbClr val="221E28"/>
                </a:solidFill>
              </a:rPr>
              <a:t>The 2015 Broadway revival won the Tony Award for Best Revival of a Musical; a 2023 Warner Bros musical feature film was released; over 15 million copies sold in 25+ languages worldwide.</a:t>
            </a:r>
          </a:p>
        </p:txBody>
      </p:sp>
      <p:sp>
        <p:nvSpPr>
          <p:cNvPr id="16" name="Rectangle 15"/>
          <p:cNvSpPr/>
          <p:nvPr/>
        </p:nvSpPr>
        <p:spPr>
          <a:xfrm>
            <a:off x="3840480" y="6163056"/>
            <a:ext cx="7589520" cy="16459"/>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7315200" cy="1097280"/>
          </a:xfrm>
          <a:prstGeom prst="rect">
            <a:avLst/>
          </a:prstGeom>
          <a:noFill/>
        </p:spPr>
        <p:txBody>
          <a:bodyPr wrap="square">
            <a:spAutoFit/>
          </a:bodyPr>
          <a:lstStyle/>
          <a:p>
            <a:pPr>
              <a:defRPr sz="3600" b="1" i="1">
                <a:solidFill>
                  <a:srgbClr val="4A1C70"/>
                </a:solidFill>
                <a:latin typeface="Georgia"/>
              </a:defRPr>
            </a:pPr>
            <a:r>
              <a:t>Conventions on</a:t>
            </a:r>
          </a:p>
          <a:p>
            <a:pPr>
              <a:defRPr sz="3600" b="1" i="1">
                <a:solidFill>
                  <a:srgbClr val="4A1C70"/>
                </a:solidFill>
                <a:latin typeface="Georgia"/>
              </a:defRPr>
            </a:pPr>
            <a:r>
              <a:t>The School of Thought</a:t>
            </a:r>
          </a:p>
        </p:txBody>
      </p:sp>
      <p:sp>
        <p:nvSpPr>
          <p:cNvPr id="4" name="TextBox 3"/>
          <p:cNvSpPr txBox="1"/>
          <p:nvPr/>
        </p:nvSpPr>
        <p:spPr>
          <a:xfrm>
            <a:off x="914400" y="2011680"/>
            <a:ext cx="7315200" cy="365760"/>
          </a:xfrm>
          <a:prstGeom prst="rect">
            <a:avLst/>
          </a:prstGeom>
          <a:noFill/>
        </p:spPr>
        <p:txBody>
          <a:bodyPr wrap="none">
            <a:spAutoFit/>
          </a:bodyPr>
          <a:lstStyle/>
          <a:p>
            <a:pPr>
              <a:defRPr sz="1100" b="1">
                <a:solidFill>
                  <a:srgbClr val="4A1C70"/>
                </a:solidFill>
                <a:latin typeface="Segoe UI"/>
              </a:defRPr>
            </a:pPr>
            <a:r>
              <a:t>CORE CONVENTIONS: WOMANISM</a:t>
            </a:r>
          </a:p>
        </p:txBody>
      </p:sp>
      <p:sp>
        <p:nvSpPr>
          <p:cNvPr id="5" name="TextBox 4"/>
          <p:cNvSpPr txBox="1"/>
          <p:nvPr/>
        </p:nvSpPr>
        <p:spPr>
          <a:xfrm>
            <a:off x="914400" y="2468880"/>
            <a:ext cx="7132320" cy="2926080"/>
          </a:xfrm>
          <a:prstGeom prst="rect">
            <a:avLst/>
          </a:prstGeom>
          <a:noFill/>
        </p:spPr>
        <p:txBody>
          <a:bodyPr wrap="square" lIns="0" tIns="0" rIns="0" bIns="0">
            <a:spAutoFit/>
          </a:bodyPr>
          <a:lstStyle/>
          <a:p>
            <a:pPr>
              <a:spcAft>
                <a:spcPts val="1000"/>
              </a:spcAft>
              <a:defRPr sz="1100">
                <a:solidFill>
                  <a:srgbClr val="221E28"/>
                </a:solidFill>
                <a:latin typeface="Segoe UI"/>
              </a:defRPr>
            </a:pPr>
            <a:r>
              <a:rPr b="1"/>
              <a:t>Black Women's Experience – Walker centers the interior lives, struggles, and voices of marginalized rural Southern Black women.</a:t>
            </a:r>
          </a:p>
          <a:p>
            <a:pPr>
              <a:spcAft>
                <a:spcPts val="1000"/>
              </a:spcAft>
              <a:defRPr sz="1100">
                <a:solidFill>
                  <a:srgbClr val="221E28"/>
                </a:solidFill>
                <a:latin typeface="Segoe UI"/>
              </a:defRPr>
            </a:pPr>
            <a:r>
              <a:rPr b="1"/>
              <a:t>Intersectional Outlook – Analyzes race, socioeconomic class, and gender simultaneously, expanding mainstream white feminism.</a:t>
            </a:r>
          </a:p>
          <a:p>
            <a:pPr>
              <a:spcAft>
                <a:spcPts val="1000"/>
              </a:spcAft>
              <a:defRPr sz="1100">
                <a:solidFill>
                  <a:srgbClr val="221E28"/>
                </a:solidFill>
                <a:latin typeface="Segoe UI"/>
              </a:defRPr>
            </a:pPr>
            <a:r>
              <a:rPr b="1"/>
              <a:t>Communal Wholeness &amp; Non-Separatism – Committed to the survival and healing of an entire people—both women and men; rejects discarding men in favor of moral redemption.</a:t>
            </a:r>
          </a:p>
          <a:p>
            <a:pPr>
              <a:spcAft>
                <a:spcPts val="1000"/>
              </a:spcAft>
              <a:defRPr sz="1100">
                <a:solidFill>
                  <a:srgbClr val="221E28"/>
                </a:solidFill>
                <a:latin typeface="Segoe UI"/>
              </a:defRPr>
            </a:pPr>
            <a:r>
              <a:rPr b="1"/>
              <a:t>Female Solidarity &amp; Erotic Autonomy – Values female bonding, sisterly mentorship, and same-sex romantic love (Celie and Shug) as sacred forces of healing.</a:t>
            </a:r>
          </a:p>
        </p:txBody>
      </p:sp>
      <p:sp>
        <p:nvSpPr>
          <p:cNvPr id="6" name="TextBox 5"/>
          <p:cNvSpPr txBox="1"/>
          <p:nvPr/>
        </p:nvSpPr>
        <p:spPr>
          <a:xfrm>
            <a:off x="914400" y="5486400"/>
            <a:ext cx="7132320" cy="548640"/>
          </a:xfrm>
          <a:prstGeom prst="rect">
            <a:avLst/>
          </a:prstGeom>
          <a:noFill/>
        </p:spPr>
        <p:txBody>
          <a:bodyPr wrap="none">
            <a:spAutoFit/>
          </a:bodyPr>
          <a:lstStyle/>
          <a:p>
            <a:pPr>
              <a:defRPr sz="1150" b="1">
                <a:solidFill>
                  <a:srgbClr val="4A1C70"/>
                </a:solidFill>
                <a:latin typeface="Segoe UI"/>
              </a:defRPr>
            </a:pPr>
            <a:r>
              <a:t>★ "Womanist is to feminist as purple is to lavender." — Alice Walker (1983)</a:t>
            </a:r>
          </a:p>
        </p:txBody>
      </p:sp>
      <p:sp>
        <p:nvSpPr>
          <p:cNvPr id="7" name="Rounded Rectangle 6"/>
          <p:cNvSpPr/>
          <p:nvPr/>
        </p:nvSpPr>
        <p:spPr>
          <a:xfrm>
            <a:off x="8961120" y="1097280"/>
            <a:ext cx="2377440" cy="4389120"/>
          </a:xfrm>
          <a:prstGeom prst="roundRect">
            <a:avLst/>
          </a:prstGeom>
          <a:solidFill>
            <a:srgbClr val="FFFFFF"/>
          </a:solidFill>
          <a:ln w="19050">
            <a:solidFill>
              <a:srgbClr val="881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70848" y="1188720"/>
            <a:ext cx="731520" cy="731520"/>
          </a:xfrm>
          <a:prstGeom prst="rect">
            <a:avLst/>
          </a:prstGeom>
          <a:noFill/>
        </p:spPr>
        <p:txBody>
          <a:bodyPr wrap="none" lIns="0" tIns="0" rIns="0" bIns="0">
            <a:spAutoFit/>
          </a:bodyPr>
          <a:lstStyle/>
          <a:p>
            <a:pPr>
              <a:defRPr sz="1800" b="1">
                <a:solidFill>
                  <a:srgbClr val="881E44"/>
                </a:solidFill>
                <a:latin typeface="Georgia"/>
              </a:defRPr>
            </a:pPr>
            <a:r>
              <a:t>Q</a:t>
            </a:r>
          </a:p>
          <a:p>
            <a:pPr>
              <a:defRPr sz="1400">
                <a:solidFill>
                  <a:srgbClr val="881E44"/>
                </a:solidFill>
              </a:defRPr>
            </a:pPr>
            <a:r>
              <a:t>♥</a:t>
            </a:r>
          </a:p>
        </p:txBody>
      </p:sp>
      <p:sp>
        <p:nvSpPr>
          <p:cNvPr id="9" name="TextBox 8"/>
          <p:cNvSpPr txBox="1"/>
          <p:nvPr/>
        </p:nvSpPr>
        <p:spPr>
          <a:xfrm>
            <a:off x="9144000" y="2743200"/>
            <a:ext cx="2011680" cy="1097280"/>
          </a:xfrm>
          <a:prstGeom prst="rect">
            <a:avLst/>
          </a:prstGeom>
          <a:noFill/>
        </p:spPr>
        <p:txBody>
          <a:bodyPr wrap="none" lIns="0" tIns="0" rIns="0" bIns="0">
            <a:spAutoFit/>
          </a:bodyPr>
          <a:lstStyle/>
          <a:p>
            <a:pPr algn="ctr">
              <a:defRPr sz="3600">
                <a:solidFill>
                  <a:srgbClr val="881E44"/>
                </a:solidFill>
              </a:defRPr>
            </a:pPr>
            <a:r>
              <a:t>♥</a:t>
            </a:r>
          </a:p>
        </p:txBody>
      </p:sp>
      <p:sp>
        <p:nvSpPr>
          <p:cNvPr id="10" name="TextBox 9"/>
          <p:cNvSpPr txBox="1"/>
          <p:nvPr/>
        </p:nvSpPr>
        <p:spPr>
          <a:xfrm>
            <a:off x="10607040" y="4709160"/>
            <a:ext cx="621792" cy="731520"/>
          </a:xfrm>
          <a:prstGeom prst="rect">
            <a:avLst/>
          </a:prstGeom>
          <a:noFill/>
        </p:spPr>
        <p:txBody>
          <a:bodyPr wrap="none" lIns="0" tIns="0" rIns="0" bIns="0">
            <a:spAutoFit/>
          </a:bodyPr>
          <a:lstStyle/>
          <a:p>
            <a:pPr algn="r">
              <a:defRPr sz="1400">
                <a:solidFill>
                  <a:srgbClr val="881E44"/>
                </a:solidFill>
              </a:defRPr>
            </a:pPr>
            <a:r>
              <a:t>♥</a:t>
            </a:r>
          </a:p>
          <a:p>
            <a:pPr algn="r">
              <a:defRPr sz="1800" b="1">
                <a:solidFill>
                  <a:srgbClr val="881E44"/>
                </a:solidFill>
                <a:latin typeface="Georgia"/>
              </a:defRPr>
            </a:pPr>
            <a:r>
              <a:t>Q</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7315200" cy="1097280"/>
          </a:xfrm>
          <a:prstGeom prst="rect">
            <a:avLst/>
          </a:prstGeom>
          <a:noFill/>
        </p:spPr>
        <p:txBody>
          <a:bodyPr wrap="square">
            <a:spAutoFit/>
          </a:bodyPr>
          <a:lstStyle/>
          <a:p>
            <a:pPr>
              <a:defRPr sz="3600" b="1" i="1">
                <a:solidFill>
                  <a:srgbClr val="4A1C70"/>
                </a:solidFill>
                <a:latin typeface="Georgia"/>
              </a:defRPr>
            </a:pPr>
            <a:r>
              <a:t>Conventions on</a:t>
            </a:r>
          </a:p>
          <a:p>
            <a:pPr>
              <a:defRPr sz="3600" b="1" i="1">
                <a:solidFill>
                  <a:srgbClr val="4A1C70"/>
                </a:solidFill>
                <a:latin typeface="Georgia"/>
              </a:defRPr>
            </a:pPr>
            <a:r>
              <a:t>The School of Thought</a:t>
            </a:r>
          </a:p>
        </p:txBody>
      </p:sp>
      <p:sp>
        <p:nvSpPr>
          <p:cNvPr id="4" name="TextBox 3"/>
          <p:cNvSpPr txBox="1"/>
          <p:nvPr/>
        </p:nvSpPr>
        <p:spPr>
          <a:xfrm>
            <a:off x="914400" y="2011680"/>
            <a:ext cx="7315200" cy="365760"/>
          </a:xfrm>
          <a:prstGeom prst="rect">
            <a:avLst/>
          </a:prstGeom>
          <a:noFill/>
        </p:spPr>
        <p:txBody>
          <a:bodyPr wrap="none">
            <a:spAutoFit/>
          </a:bodyPr>
          <a:lstStyle/>
          <a:p>
            <a:pPr>
              <a:defRPr sz="1100" b="1">
                <a:solidFill>
                  <a:srgbClr val="4A1C70"/>
                </a:solidFill>
                <a:latin typeface="Segoe UI"/>
              </a:defRPr>
            </a:pPr>
            <a:r>
              <a:t>LITERARY CONVENTIONS &amp; AESTHETIC FORM</a:t>
            </a:r>
          </a:p>
        </p:txBody>
      </p:sp>
      <p:sp>
        <p:nvSpPr>
          <p:cNvPr id="5" name="TextBox 4"/>
          <p:cNvSpPr txBox="1"/>
          <p:nvPr/>
        </p:nvSpPr>
        <p:spPr>
          <a:xfrm>
            <a:off x="914400" y="2468880"/>
            <a:ext cx="7132320" cy="2926080"/>
          </a:xfrm>
          <a:prstGeom prst="rect">
            <a:avLst/>
          </a:prstGeom>
          <a:noFill/>
        </p:spPr>
        <p:txBody>
          <a:bodyPr wrap="square" lIns="0" tIns="0" rIns="0" bIns="0">
            <a:spAutoFit/>
          </a:bodyPr>
          <a:lstStyle/>
          <a:p>
            <a:pPr>
              <a:spcAft>
                <a:spcPts val="1000"/>
              </a:spcAft>
              <a:defRPr sz="1100">
                <a:solidFill>
                  <a:srgbClr val="221E28"/>
                </a:solidFill>
                <a:latin typeface="Segoe UI"/>
              </a:defRPr>
            </a:pPr>
            <a:r>
              <a:rPr b="1"/>
              <a:t>Subversion of Epistolary Form – Adapts the traditional European epistolary novel for a rural, silenced Black girl, creating an unmediated sanctuary for trauma and awakening.</a:t>
            </a:r>
          </a:p>
          <a:p>
            <a:pPr>
              <a:spcAft>
                <a:spcPts val="1000"/>
              </a:spcAft>
              <a:defRPr sz="1100">
                <a:solidFill>
                  <a:srgbClr val="221E28"/>
                </a:solidFill>
                <a:latin typeface="Segoe UI"/>
              </a:defRPr>
            </a:pPr>
            <a:r>
              <a:rPr b="1"/>
              <a:t>African American Vernacular English (AAVE) – Rejects formal Standard English narration, validating Southern Black folk speech as an authentic, grammatically regular, and poetic literary language.</a:t>
            </a:r>
          </a:p>
          <a:p>
            <a:pPr>
              <a:spcAft>
                <a:spcPts val="1000"/>
              </a:spcAft>
              <a:defRPr sz="1100">
                <a:solidFill>
                  <a:srgbClr val="221E28"/>
                </a:solidFill>
                <a:latin typeface="Segoe UI"/>
              </a:defRPr>
            </a:pPr>
            <a:r>
              <a:rPr b="1"/>
              <a:t>The Pivotal Header Shift (Letter 69) – Progressing from 'Dear God' to 'Dear Nettie' marks Celie's transition from passive victimhood to active relational agency.</a:t>
            </a:r>
          </a:p>
          <a:p>
            <a:pPr>
              <a:spcAft>
                <a:spcPts val="1000"/>
              </a:spcAft>
              <a:defRPr sz="1100">
                <a:solidFill>
                  <a:srgbClr val="221E28"/>
                </a:solidFill>
                <a:latin typeface="Segoe UI"/>
              </a:defRPr>
            </a:pPr>
            <a:r>
              <a:rPr b="1"/>
              <a:t>Symbolist Folk Artistry – Employs communal folk crafts (quilting 'Sister's Choice' and sewing 'Folkspants') as visual metaphors for reconstruction, labor dignity, and autonomy.</a:t>
            </a:r>
          </a:p>
        </p:txBody>
      </p:sp>
      <p:sp>
        <p:nvSpPr>
          <p:cNvPr id="6" name="TextBox 5"/>
          <p:cNvSpPr txBox="1"/>
          <p:nvPr/>
        </p:nvSpPr>
        <p:spPr>
          <a:xfrm>
            <a:off x="914400" y="5486400"/>
            <a:ext cx="7132320" cy="548640"/>
          </a:xfrm>
          <a:prstGeom prst="rect">
            <a:avLst/>
          </a:prstGeom>
          <a:noFill/>
        </p:spPr>
        <p:txBody>
          <a:bodyPr wrap="none">
            <a:spAutoFit/>
          </a:bodyPr>
          <a:lstStyle/>
          <a:p>
            <a:pPr>
              <a:defRPr sz="1100" b="1">
                <a:solidFill>
                  <a:srgbClr val="4A1C70"/>
                </a:solidFill>
                <a:latin typeface="Segoe UI"/>
              </a:defRPr>
            </a:pPr>
            <a:r>
              <a:t>★ In The Color Purple, writing is an instrument of self-definition, historical recovery, and survival.</a:t>
            </a:r>
          </a:p>
        </p:txBody>
      </p:sp>
      <p:sp>
        <p:nvSpPr>
          <p:cNvPr id="7" name="Rounded Rectangle 6"/>
          <p:cNvSpPr/>
          <p:nvPr/>
        </p:nvSpPr>
        <p:spPr>
          <a:xfrm>
            <a:off x="8961120" y="1097280"/>
            <a:ext cx="2377440" cy="438912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70848" y="1188720"/>
            <a:ext cx="731520" cy="731520"/>
          </a:xfrm>
          <a:prstGeom prst="rect">
            <a:avLst/>
          </a:prstGeom>
          <a:noFill/>
        </p:spPr>
        <p:txBody>
          <a:bodyPr wrap="none" lIns="0" tIns="0" rIns="0" bIns="0">
            <a:spAutoFit/>
          </a:bodyPr>
          <a:lstStyle/>
          <a:p>
            <a:pPr>
              <a:defRPr sz="1800" b="1">
                <a:solidFill>
                  <a:srgbClr val="4A1C70"/>
                </a:solidFill>
                <a:latin typeface="Georgia"/>
              </a:defRPr>
            </a:pPr>
            <a:r>
              <a:t>J</a:t>
            </a:r>
          </a:p>
          <a:p>
            <a:pPr>
              <a:defRPr sz="1400">
                <a:solidFill>
                  <a:srgbClr val="4A1C70"/>
                </a:solidFill>
              </a:defRPr>
            </a:pPr>
            <a:r>
              <a:t>♠</a:t>
            </a:r>
          </a:p>
        </p:txBody>
      </p:sp>
      <p:sp>
        <p:nvSpPr>
          <p:cNvPr id="9" name="TextBox 8"/>
          <p:cNvSpPr txBox="1"/>
          <p:nvPr/>
        </p:nvSpPr>
        <p:spPr>
          <a:xfrm>
            <a:off x="9144000" y="2743200"/>
            <a:ext cx="2011680" cy="1097280"/>
          </a:xfrm>
          <a:prstGeom prst="rect">
            <a:avLst/>
          </a:prstGeom>
          <a:noFill/>
        </p:spPr>
        <p:txBody>
          <a:bodyPr wrap="none" lIns="0" tIns="0" rIns="0" bIns="0">
            <a:spAutoFit/>
          </a:bodyPr>
          <a:lstStyle/>
          <a:p>
            <a:pPr algn="ctr">
              <a:defRPr sz="3600">
                <a:solidFill>
                  <a:srgbClr val="4A1C70"/>
                </a:solidFill>
              </a:defRPr>
            </a:pPr>
            <a:r>
              <a:t>♠</a:t>
            </a:r>
          </a:p>
        </p:txBody>
      </p:sp>
      <p:sp>
        <p:nvSpPr>
          <p:cNvPr id="10" name="TextBox 9"/>
          <p:cNvSpPr txBox="1"/>
          <p:nvPr/>
        </p:nvSpPr>
        <p:spPr>
          <a:xfrm>
            <a:off x="10607040" y="4709160"/>
            <a:ext cx="621792" cy="731520"/>
          </a:xfrm>
          <a:prstGeom prst="rect">
            <a:avLst/>
          </a:prstGeom>
          <a:noFill/>
        </p:spPr>
        <p:txBody>
          <a:bodyPr wrap="none" lIns="0" tIns="0" rIns="0" bIns="0">
            <a:spAutoFit/>
          </a:bodyPr>
          <a:lstStyle/>
          <a:p>
            <a:pPr algn="r">
              <a:defRPr sz="1400">
                <a:solidFill>
                  <a:srgbClr val="4A1C70"/>
                </a:solidFill>
              </a:defRPr>
            </a:pPr>
            <a:r>
              <a:t>♠</a:t>
            </a:r>
          </a:p>
          <a:p>
            <a:pPr algn="r">
              <a:defRPr sz="1800" b="1">
                <a:solidFill>
                  <a:srgbClr val="4A1C70"/>
                </a:solidFill>
                <a:latin typeface="Georgia"/>
              </a:defRPr>
            </a:pPr>
            <a:r>
              <a:t>J</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7315200" cy="1097280"/>
          </a:xfrm>
          <a:prstGeom prst="rect">
            <a:avLst/>
          </a:prstGeom>
          <a:noFill/>
        </p:spPr>
        <p:txBody>
          <a:bodyPr wrap="square">
            <a:spAutoFit/>
          </a:bodyPr>
          <a:lstStyle/>
          <a:p>
            <a:pPr>
              <a:defRPr sz="3600" b="1" i="1">
                <a:solidFill>
                  <a:srgbClr val="4A1C70"/>
                </a:solidFill>
                <a:latin typeface="Georgia"/>
              </a:defRPr>
            </a:pPr>
            <a:r>
              <a:t>Conventions on</a:t>
            </a:r>
          </a:p>
          <a:p>
            <a:pPr>
              <a:defRPr sz="3600" b="1" i="1">
                <a:solidFill>
                  <a:srgbClr val="4A1C70"/>
                </a:solidFill>
                <a:latin typeface="Georgia"/>
              </a:defRPr>
            </a:pPr>
            <a:r>
              <a:t>The School of Thought</a:t>
            </a:r>
          </a:p>
        </p:txBody>
      </p:sp>
      <p:sp>
        <p:nvSpPr>
          <p:cNvPr id="4" name="TextBox 3"/>
          <p:cNvSpPr txBox="1"/>
          <p:nvPr/>
        </p:nvSpPr>
        <p:spPr>
          <a:xfrm>
            <a:off x="914400" y="2011680"/>
            <a:ext cx="7315200" cy="365760"/>
          </a:xfrm>
          <a:prstGeom prst="rect">
            <a:avLst/>
          </a:prstGeom>
          <a:noFill/>
        </p:spPr>
        <p:txBody>
          <a:bodyPr wrap="none">
            <a:spAutoFit/>
          </a:bodyPr>
          <a:lstStyle/>
          <a:p>
            <a:pPr>
              <a:defRPr sz="1100" b="1">
                <a:solidFill>
                  <a:srgbClr val="4A1C70"/>
                </a:solidFill>
                <a:latin typeface="Segoe UI"/>
              </a:defRPr>
            </a:pPr>
            <a:r>
              <a:t>PANENTHEISM &amp; POSTCOLONIAL CONVENTIONS</a:t>
            </a:r>
          </a:p>
        </p:txBody>
      </p:sp>
      <p:sp>
        <p:nvSpPr>
          <p:cNvPr id="5" name="TextBox 4"/>
          <p:cNvSpPr txBox="1"/>
          <p:nvPr/>
        </p:nvSpPr>
        <p:spPr>
          <a:xfrm>
            <a:off x="914400" y="2468880"/>
            <a:ext cx="7132320" cy="2926080"/>
          </a:xfrm>
          <a:prstGeom prst="rect">
            <a:avLst/>
          </a:prstGeom>
          <a:noFill/>
        </p:spPr>
        <p:txBody>
          <a:bodyPr wrap="square" lIns="0" tIns="0" rIns="0" bIns="0">
            <a:spAutoFit/>
          </a:bodyPr>
          <a:lstStyle/>
          <a:p>
            <a:pPr>
              <a:spcAft>
                <a:spcPts val="1000"/>
              </a:spcAft>
              <a:defRPr sz="1100">
                <a:solidFill>
                  <a:srgbClr val="221E28"/>
                </a:solidFill>
                <a:latin typeface="Segoe UI"/>
              </a:defRPr>
            </a:pPr>
            <a:r>
              <a:rPr b="1"/>
              <a:t>Theological Panentheism – Replaces the distant white patriarchal God with an immanent divine spirit ('It') living inside nature, trees, birds, wind, and human affection.</a:t>
            </a:r>
          </a:p>
          <a:p>
            <a:pPr>
              <a:spcAft>
                <a:spcPts val="1000"/>
              </a:spcAft>
              <a:defRPr sz="1100">
                <a:solidFill>
                  <a:srgbClr val="221E28"/>
                </a:solidFill>
                <a:latin typeface="Segoe UI"/>
              </a:defRPr>
            </a:pPr>
            <a:r>
              <a:rPr b="1"/>
              <a:t>Theology of Admiration – God is not an angry monarch demanding terror; God desires shared wonder: 'It pisses God off if you walk by the color purple in a field somewhere and don't notice it.'</a:t>
            </a:r>
          </a:p>
          <a:p>
            <a:pPr>
              <a:spcAft>
                <a:spcPts val="1000"/>
              </a:spcAft>
              <a:defRPr sz="1100">
                <a:solidFill>
                  <a:srgbClr val="221E28"/>
                </a:solidFill>
                <a:latin typeface="Segoe UI"/>
              </a:defRPr>
            </a:pPr>
            <a:r>
              <a:rPr b="1"/>
              <a:t>Postcolonial Anti-Imperialism – Nettie's African narrative critiques British corporate exploitation of the Olinka (clearing the sacred roofleaf for rubber, imposing taxes).</a:t>
            </a:r>
          </a:p>
          <a:p>
            <a:pPr>
              <a:spcAft>
                <a:spcPts val="1000"/>
              </a:spcAft>
              <a:defRPr sz="1100">
                <a:solidFill>
                  <a:srgbClr val="221E28"/>
                </a:solidFill>
                <a:latin typeface="Segoe UI"/>
              </a:defRPr>
            </a:pPr>
            <a:r>
              <a:rPr b="1"/>
              <a:t>Transatlantic Counterpoint – Walker mirrors the domestic abuse of Black women in Georgia with the imperialist devastation of African tribes, revealing linked global structures.</a:t>
            </a:r>
          </a:p>
        </p:txBody>
      </p:sp>
      <p:sp>
        <p:nvSpPr>
          <p:cNvPr id="6" name="TextBox 5"/>
          <p:cNvSpPr txBox="1"/>
          <p:nvPr/>
        </p:nvSpPr>
        <p:spPr>
          <a:xfrm>
            <a:off x="914400" y="5486400"/>
            <a:ext cx="7132320" cy="548640"/>
          </a:xfrm>
          <a:prstGeom prst="rect">
            <a:avLst/>
          </a:prstGeom>
          <a:noFill/>
        </p:spPr>
        <p:txBody>
          <a:bodyPr wrap="none">
            <a:spAutoFit/>
          </a:bodyPr>
          <a:lstStyle/>
          <a:p>
            <a:pPr>
              <a:defRPr sz="1100" b="1">
                <a:solidFill>
                  <a:srgbClr val="4A1C70"/>
                </a:solidFill>
                <a:latin typeface="Segoe UI"/>
              </a:defRPr>
            </a:pPr>
            <a:r>
              <a:t>★ Spiritual liberation requires dismantling external idols and rediscovering divine joy in nature.</a:t>
            </a:r>
          </a:p>
        </p:txBody>
      </p:sp>
      <p:sp>
        <p:nvSpPr>
          <p:cNvPr id="7" name="Rounded Rectangle 6"/>
          <p:cNvSpPr/>
          <p:nvPr/>
        </p:nvSpPr>
        <p:spPr>
          <a:xfrm>
            <a:off x="8961120" y="1097280"/>
            <a:ext cx="2377440" cy="4389120"/>
          </a:xfrm>
          <a:prstGeom prst="roundRect">
            <a:avLst/>
          </a:prstGeom>
          <a:solidFill>
            <a:srgbClr val="FFFFFF"/>
          </a:solidFill>
          <a:ln w="19050">
            <a:solidFill>
              <a:srgbClr val="881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70848" y="1188720"/>
            <a:ext cx="731520" cy="731520"/>
          </a:xfrm>
          <a:prstGeom prst="rect">
            <a:avLst/>
          </a:prstGeom>
          <a:noFill/>
        </p:spPr>
        <p:txBody>
          <a:bodyPr wrap="none" lIns="0" tIns="0" rIns="0" bIns="0">
            <a:spAutoFit/>
          </a:bodyPr>
          <a:lstStyle/>
          <a:p>
            <a:pPr>
              <a:defRPr sz="1800" b="1">
                <a:solidFill>
                  <a:srgbClr val="881E44"/>
                </a:solidFill>
                <a:latin typeface="Georgia"/>
              </a:defRPr>
            </a:pPr>
            <a:r>
              <a:t>A</a:t>
            </a:r>
          </a:p>
          <a:p>
            <a:pPr>
              <a:defRPr sz="1400">
                <a:solidFill>
                  <a:srgbClr val="881E44"/>
                </a:solidFill>
              </a:defRPr>
            </a:pPr>
            <a:r>
              <a:t>♥</a:t>
            </a:r>
          </a:p>
        </p:txBody>
      </p:sp>
      <p:sp>
        <p:nvSpPr>
          <p:cNvPr id="9" name="TextBox 8"/>
          <p:cNvSpPr txBox="1"/>
          <p:nvPr/>
        </p:nvSpPr>
        <p:spPr>
          <a:xfrm>
            <a:off x="9144000" y="2743200"/>
            <a:ext cx="2011680" cy="1097280"/>
          </a:xfrm>
          <a:prstGeom prst="rect">
            <a:avLst/>
          </a:prstGeom>
          <a:noFill/>
        </p:spPr>
        <p:txBody>
          <a:bodyPr wrap="none" lIns="0" tIns="0" rIns="0" bIns="0">
            <a:spAutoFit/>
          </a:bodyPr>
          <a:lstStyle/>
          <a:p>
            <a:pPr algn="ctr">
              <a:defRPr sz="3600">
                <a:solidFill>
                  <a:srgbClr val="881E44"/>
                </a:solidFill>
              </a:defRPr>
            </a:pPr>
            <a:r>
              <a:t>♥</a:t>
            </a:r>
          </a:p>
        </p:txBody>
      </p:sp>
      <p:sp>
        <p:nvSpPr>
          <p:cNvPr id="10" name="TextBox 9"/>
          <p:cNvSpPr txBox="1"/>
          <p:nvPr/>
        </p:nvSpPr>
        <p:spPr>
          <a:xfrm>
            <a:off x="10607040" y="4709160"/>
            <a:ext cx="621792" cy="731520"/>
          </a:xfrm>
          <a:prstGeom prst="rect">
            <a:avLst/>
          </a:prstGeom>
          <a:noFill/>
        </p:spPr>
        <p:txBody>
          <a:bodyPr wrap="none" lIns="0" tIns="0" rIns="0" bIns="0">
            <a:spAutoFit/>
          </a:bodyPr>
          <a:lstStyle/>
          <a:p>
            <a:pPr algn="r">
              <a:defRPr sz="1400">
                <a:solidFill>
                  <a:srgbClr val="881E44"/>
                </a:solidFill>
              </a:defRPr>
            </a:pPr>
            <a:r>
              <a:t>♥</a:t>
            </a:r>
          </a:p>
          <a:p>
            <a:pPr algn="r">
              <a:defRPr sz="1800" b="1">
                <a:solidFill>
                  <a:srgbClr val="881E44"/>
                </a:solidFill>
                <a:latin typeface="Georgia"/>
              </a:defRPr>
            </a:pPr>
            <a:r>
              <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52160"/>
            <a:ext cx="12191695" cy="1005840"/>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80990" y="731520"/>
            <a:ext cx="1828800" cy="914400"/>
          </a:xfrm>
          <a:prstGeom prst="rect">
            <a:avLst/>
          </a:prstGeom>
          <a:noFill/>
        </p:spPr>
        <p:txBody>
          <a:bodyPr wrap="none">
            <a:spAutoFit/>
          </a:bodyPr>
          <a:lstStyle/>
          <a:p>
            <a:pPr algn="ctr">
              <a:defRPr sz="4400">
                <a:solidFill>
                  <a:srgbClr val="4A1C70"/>
                </a:solidFill>
              </a:defRPr>
            </a:pPr>
            <a:r>
              <a:t>✒</a:t>
            </a:r>
          </a:p>
        </p:txBody>
      </p:sp>
      <p:sp>
        <p:nvSpPr>
          <p:cNvPr id="5" name="TextBox 4"/>
          <p:cNvSpPr txBox="1"/>
          <p:nvPr/>
        </p:nvSpPr>
        <p:spPr>
          <a:xfrm>
            <a:off x="1828800" y="1645920"/>
            <a:ext cx="8534095" cy="1097280"/>
          </a:xfrm>
          <a:prstGeom prst="rect">
            <a:avLst/>
          </a:prstGeom>
          <a:noFill/>
        </p:spPr>
        <p:txBody>
          <a:bodyPr wrap="square">
            <a:spAutoFit/>
          </a:bodyPr>
          <a:lstStyle/>
          <a:p>
            <a:pPr algn="ctr">
              <a:defRPr sz="3600" b="1" i="1">
                <a:solidFill>
                  <a:srgbClr val="4A1C70"/>
                </a:solidFill>
                <a:latin typeface="Georgia"/>
              </a:defRPr>
            </a:pPr>
            <a:r>
              <a:t>Author's Biography</a:t>
            </a:r>
          </a:p>
          <a:p>
            <a:pPr algn="ctr">
              <a:spcBef>
                <a:spcPts val="400"/>
              </a:spcBef>
              <a:defRPr sz="1300" b="1">
                <a:solidFill>
                  <a:srgbClr val="4A1C70"/>
                </a:solidFill>
                <a:latin typeface="Segoe UI"/>
              </a:defRPr>
            </a:pPr>
            <a:r>
              <a:t>A L I C E   W A L K E R</a:t>
            </a:r>
          </a:p>
        </p:txBody>
      </p:sp>
      <p:sp>
        <p:nvSpPr>
          <p:cNvPr id="6" name="TextBox 5"/>
          <p:cNvSpPr txBox="1"/>
          <p:nvPr/>
        </p:nvSpPr>
        <p:spPr>
          <a:xfrm>
            <a:off x="1371600" y="2926080"/>
            <a:ext cx="9448495" cy="2560320"/>
          </a:xfrm>
          <a:prstGeom prst="rect">
            <a:avLst/>
          </a:prstGeom>
          <a:noFill/>
        </p:spPr>
        <p:txBody>
          <a:bodyPr wrap="square">
            <a:spAutoFit/>
          </a:bodyPr>
          <a:lstStyle/>
          <a:p>
            <a:pPr algn="just">
              <a:lnSpc>
                <a:spcPct val="135000"/>
              </a:lnSpc>
              <a:defRPr sz="1100">
                <a:solidFill>
                  <a:srgbClr val="221E28"/>
                </a:solidFill>
                <a:latin typeface="Segoe UI"/>
              </a:defRPr>
            </a:pPr>
            <a:r>
              <a:t>ALICE WALKER WAS BORN ON FEBRUARY 9, 1944, IN EATONTON, PUTNAM COUNTY, GEORGIA, THE EIGHTH CHILD OF WILLIE LEE AND MINNIE TALLULAH GRANT WALKER, WHO LABORED AS TENANT FARMERS AND SHARECROPPERS. DESPITE SEVERE ECONOMIC HARDSHIP, HER PARENTS INSTILLED A DEEP REVERENCE FOR NATURE, ART, BEAUTY, AND EDUCATION. AT AGE EIGHT, HER BROTHER ACCIDENTALLY SHOT HER IN THE RIGHT EYE WITH A BB GUN, LEAVING A PERMANENT SCAR AND CAUSING SEVERE INTROSPECTION THAT DROVE HER INTO A WORLD OF READING AND POETRY. AFTER SURGERY RESTORED HER CONFIDENCE AT FOURTEEN, SHE GRADUATED AS VALEDICTORIAN AND HOMECOMING QUEEN, ATTENDING SPELMAN COLLEGE IN ATLANTA UNDER MENTORS HOWARD ZINN AND STAUGHTON LYND, LATER GRADUATING FROM SARAH LAWRENCE COLLEGE IN 1965.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52160"/>
            <a:ext cx="12191695" cy="1005840"/>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80990" y="731520"/>
            <a:ext cx="1828800" cy="914400"/>
          </a:xfrm>
          <a:prstGeom prst="rect">
            <a:avLst/>
          </a:prstGeom>
          <a:noFill/>
        </p:spPr>
        <p:txBody>
          <a:bodyPr wrap="none">
            <a:spAutoFit/>
          </a:bodyPr>
          <a:lstStyle/>
          <a:p>
            <a:pPr algn="ctr">
              <a:defRPr sz="4000">
                <a:solidFill>
                  <a:srgbClr val="4A1C70"/>
                </a:solidFill>
              </a:defRPr>
            </a:pPr>
            <a:r>
              <a:t>★</a:t>
            </a:r>
          </a:p>
        </p:txBody>
      </p:sp>
      <p:sp>
        <p:nvSpPr>
          <p:cNvPr id="5" name="TextBox 4"/>
          <p:cNvSpPr txBox="1"/>
          <p:nvPr/>
        </p:nvSpPr>
        <p:spPr>
          <a:xfrm>
            <a:off x="1828800" y="1645920"/>
            <a:ext cx="8534095" cy="1097280"/>
          </a:xfrm>
          <a:prstGeom prst="rect">
            <a:avLst/>
          </a:prstGeom>
          <a:noFill/>
        </p:spPr>
        <p:txBody>
          <a:bodyPr wrap="square">
            <a:spAutoFit/>
          </a:bodyPr>
          <a:lstStyle/>
          <a:p>
            <a:pPr algn="ctr">
              <a:defRPr sz="3600" b="1" i="1">
                <a:solidFill>
                  <a:srgbClr val="4A1C70"/>
                </a:solidFill>
                <a:latin typeface="Georgia"/>
              </a:defRPr>
            </a:pPr>
            <a:r>
              <a:t>Author's Biography</a:t>
            </a:r>
          </a:p>
          <a:p>
            <a:pPr algn="ctr">
              <a:spcBef>
                <a:spcPts val="400"/>
              </a:spcBef>
              <a:defRPr sz="1100" b="1">
                <a:solidFill>
                  <a:srgbClr val="4A1C70"/>
                </a:solidFill>
                <a:latin typeface="Segoe UI"/>
              </a:defRPr>
            </a:pPr>
            <a:r>
              <a:t>CIVIL RIGHTS ACTIVISM, SCHOLARSHIP &amp; LITERARY RECOGNITION</a:t>
            </a:r>
          </a:p>
        </p:txBody>
      </p:sp>
      <p:sp>
        <p:nvSpPr>
          <p:cNvPr id="6" name="TextBox 5"/>
          <p:cNvSpPr txBox="1"/>
          <p:nvPr/>
        </p:nvSpPr>
        <p:spPr>
          <a:xfrm>
            <a:off x="1371600" y="2926080"/>
            <a:ext cx="9448495" cy="2560320"/>
          </a:xfrm>
          <a:prstGeom prst="rect">
            <a:avLst/>
          </a:prstGeom>
          <a:noFill/>
        </p:spPr>
        <p:txBody>
          <a:bodyPr wrap="square">
            <a:spAutoFit/>
          </a:bodyPr>
          <a:lstStyle/>
          <a:p>
            <a:pPr algn="just">
              <a:lnSpc>
                <a:spcPct val="135000"/>
              </a:lnSpc>
              <a:defRPr sz="1100">
                <a:solidFill>
                  <a:srgbClr val="221E28"/>
                </a:solidFill>
                <a:latin typeface="Segoe UI"/>
              </a:defRPr>
            </a:pPr>
            <a:r>
              <a:t>WALKER BECAME DEEPLY ENGAGED IN THE CIVIL RIGHTS MOVEMENT, PARTICIPATING IN MISSISSIPPI VOTER REGISTRATION DRIVES AND TAKING DEPOSITIONS FOR THE NAACP LEGAL DEFENSE FUND. IN 1967 SHE MARRIED CIVIL RIGHTS LAWYER MELVYN LEVENTHAL, LIVING UNDER THREATS FROM THE KU KLUX KLAN. IN 1975, HER SEMINAL ESSAY 'IN SEARCH OF ZORA NEALE HURSTON' SINGLE-HANDEDLY RESURRECTED HURSTON'S REPUTATION AS A TITAN OF AMERICAN LITERATURE, PURCHASING A HEADSTONE FOR HER UNMARKED GRAVE READING 'A GENIUS OF THE SOUTH'. IN 1982, SHE PUBLISHED HER THIRD NOVEL, THE COLOR PURPLE, WINNING BOTH THE PULITZER PRIZE FOR FICTION AND THE NATIONAL BOOK AWARD IN 1983—BECOMING THE FIRST AFRICAN-AMERICAN WOMAN TO WIN THE PULITZER PRIZE FOR FICTION.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0"/>
          </a:xfrm>
          <a:prstGeom prst="rect">
            <a:avLst/>
          </a:prstGeom>
          <a:solidFill>
            <a:srgbClr val="2E0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27432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731520"/>
            <a:ext cx="2011680" cy="274320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07008" y="822960"/>
            <a:ext cx="731520" cy="731520"/>
          </a:xfrm>
          <a:prstGeom prst="rect">
            <a:avLst/>
          </a:prstGeom>
          <a:noFill/>
        </p:spPr>
        <p:txBody>
          <a:bodyPr wrap="none" lIns="0" tIns="0" rIns="0" bIns="0">
            <a:spAutoFit/>
          </a:bodyPr>
          <a:lstStyle/>
          <a:p>
            <a:pPr>
              <a:defRPr sz="1800" b="1">
                <a:solidFill>
                  <a:srgbClr val="4A1C70"/>
                </a:solidFill>
                <a:latin typeface="Georgia"/>
              </a:defRPr>
            </a:pPr>
            <a:r>
              <a:t>A</a:t>
            </a:r>
          </a:p>
          <a:p>
            <a:pPr>
              <a:defRPr sz="1400">
                <a:solidFill>
                  <a:srgbClr val="4A1C70"/>
                </a:solidFill>
              </a:defRPr>
            </a:pPr>
            <a:r>
              <a:t>♠</a:t>
            </a:r>
          </a:p>
        </p:txBody>
      </p:sp>
      <p:sp>
        <p:nvSpPr>
          <p:cNvPr id="6" name="TextBox 5"/>
          <p:cNvSpPr txBox="1"/>
          <p:nvPr/>
        </p:nvSpPr>
        <p:spPr>
          <a:xfrm>
            <a:off x="1280160" y="1554480"/>
            <a:ext cx="1645920" cy="1097280"/>
          </a:xfrm>
          <a:prstGeom prst="rect">
            <a:avLst/>
          </a:prstGeom>
          <a:noFill/>
        </p:spPr>
        <p:txBody>
          <a:bodyPr wrap="none" lIns="0" tIns="0" rIns="0" bIns="0">
            <a:spAutoFit/>
          </a:bodyPr>
          <a:lstStyle/>
          <a:p>
            <a:pPr algn="ctr">
              <a:defRPr sz="3600">
                <a:solidFill>
                  <a:srgbClr val="4A1C70"/>
                </a:solidFill>
              </a:defRPr>
            </a:pPr>
            <a:r>
              <a:t>♠</a:t>
            </a:r>
          </a:p>
        </p:txBody>
      </p:sp>
      <p:sp>
        <p:nvSpPr>
          <p:cNvPr id="7" name="TextBox 6"/>
          <p:cNvSpPr txBox="1"/>
          <p:nvPr/>
        </p:nvSpPr>
        <p:spPr>
          <a:xfrm>
            <a:off x="2377440" y="2697480"/>
            <a:ext cx="621792" cy="731520"/>
          </a:xfrm>
          <a:prstGeom prst="rect">
            <a:avLst/>
          </a:prstGeom>
          <a:noFill/>
        </p:spPr>
        <p:txBody>
          <a:bodyPr wrap="none" lIns="0" tIns="0" rIns="0" bIns="0">
            <a:spAutoFit/>
          </a:bodyPr>
          <a:lstStyle/>
          <a:p>
            <a:pPr algn="r">
              <a:defRPr sz="1400">
                <a:solidFill>
                  <a:srgbClr val="4A1C70"/>
                </a:solidFill>
              </a:defRPr>
            </a:pPr>
            <a:r>
              <a:t>♠</a:t>
            </a:r>
          </a:p>
          <a:p>
            <a:pPr algn="r">
              <a:defRPr sz="1800" b="1">
                <a:solidFill>
                  <a:srgbClr val="4A1C70"/>
                </a:solidFill>
                <a:latin typeface="Georgia"/>
              </a:defRPr>
            </a:pPr>
            <a:r>
              <a:t>A</a:t>
            </a:r>
          </a:p>
        </p:txBody>
      </p:sp>
      <p:sp>
        <p:nvSpPr>
          <p:cNvPr id="8" name="TextBox 7"/>
          <p:cNvSpPr txBox="1"/>
          <p:nvPr/>
        </p:nvSpPr>
        <p:spPr>
          <a:xfrm>
            <a:off x="914400" y="3566160"/>
            <a:ext cx="2377440" cy="457200"/>
          </a:xfrm>
          <a:prstGeom prst="rect">
            <a:avLst/>
          </a:prstGeom>
          <a:noFill/>
        </p:spPr>
        <p:txBody>
          <a:bodyPr wrap="none">
            <a:spAutoFit/>
          </a:bodyPr>
          <a:lstStyle/>
          <a:p>
            <a:pPr algn="ctr">
              <a:defRPr sz="850" b="1">
                <a:solidFill>
                  <a:srgbClr val="F5F2EB"/>
                </a:solidFill>
                <a:latin typeface="Segoe UI"/>
              </a:defRPr>
            </a:pPr>
            <a:r>
              <a:t>CONTEXT (LETTERS 1–60)</a:t>
            </a:r>
          </a:p>
        </p:txBody>
      </p:sp>
      <p:sp>
        <p:nvSpPr>
          <p:cNvPr id="9" name="Rounded Rectangle 8"/>
          <p:cNvSpPr/>
          <p:nvPr/>
        </p:nvSpPr>
        <p:spPr>
          <a:xfrm>
            <a:off x="3657600" y="731520"/>
            <a:ext cx="2011680" cy="274320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67328" y="822960"/>
            <a:ext cx="731520" cy="731520"/>
          </a:xfrm>
          <a:prstGeom prst="rect">
            <a:avLst/>
          </a:prstGeom>
          <a:noFill/>
        </p:spPr>
        <p:txBody>
          <a:bodyPr wrap="none" lIns="0" tIns="0" rIns="0" bIns="0">
            <a:spAutoFit/>
          </a:bodyPr>
          <a:lstStyle/>
          <a:p>
            <a:pPr>
              <a:defRPr sz="1800" b="1">
                <a:solidFill>
                  <a:srgbClr val="4A1C70"/>
                </a:solidFill>
                <a:latin typeface="Georgia"/>
              </a:defRPr>
            </a:pPr>
            <a:r>
              <a:t>2</a:t>
            </a:r>
          </a:p>
          <a:p>
            <a:pPr>
              <a:defRPr sz="1400">
                <a:solidFill>
                  <a:srgbClr val="4A1C70"/>
                </a:solidFill>
              </a:defRPr>
            </a:pPr>
            <a:r>
              <a:t>♠</a:t>
            </a:r>
          </a:p>
        </p:txBody>
      </p:sp>
      <p:sp>
        <p:nvSpPr>
          <p:cNvPr id="11" name="TextBox 10"/>
          <p:cNvSpPr txBox="1"/>
          <p:nvPr/>
        </p:nvSpPr>
        <p:spPr>
          <a:xfrm>
            <a:off x="3840480" y="1554480"/>
            <a:ext cx="1645920" cy="1097280"/>
          </a:xfrm>
          <a:prstGeom prst="rect">
            <a:avLst/>
          </a:prstGeom>
          <a:noFill/>
        </p:spPr>
        <p:txBody>
          <a:bodyPr wrap="none" lIns="0" tIns="0" rIns="0" bIns="0">
            <a:spAutoFit/>
          </a:bodyPr>
          <a:lstStyle/>
          <a:p>
            <a:pPr algn="ctr">
              <a:defRPr sz="3600">
                <a:solidFill>
                  <a:srgbClr val="4A1C70"/>
                </a:solidFill>
              </a:defRPr>
            </a:pPr>
            <a:r>
              <a:t>♠</a:t>
            </a:r>
          </a:p>
        </p:txBody>
      </p:sp>
      <p:sp>
        <p:nvSpPr>
          <p:cNvPr id="12" name="TextBox 11"/>
          <p:cNvSpPr txBox="1"/>
          <p:nvPr/>
        </p:nvSpPr>
        <p:spPr>
          <a:xfrm>
            <a:off x="4937760" y="2697480"/>
            <a:ext cx="621792" cy="731520"/>
          </a:xfrm>
          <a:prstGeom prst="rect">
            <a:avLst/>
          </a:prstGeom>
          <a:noFill/>
        </p:spPr>
        <p:txBody>
          <a:bodyPr wrap="none" lIns="0" tIns="0" rIns="0" bIns="0">
            <a:spAutoFit/>
          </a:bodyPr>
          <a:lstStyle/>
          <a:p>
            <a:pPr algn="r">
              <a:defRPr sz="1400">
                <a:solidFill>
                  <a:srgbClr val="4A1C70"/>
                </a:solidFill>
              </a:defRPr>
            </a:pPr>
            <a:r>
              <a:t>♠</a:t>
            </a:r>
          </a:p>
          <a:p>
            <a:pPr algn="r">
              <a:defRPr sz="1800" b="1">
                <a:solidFill>
                  <a:srgbClr val="4A1C70"/>
                </a:solidFill>
                <a:latin typeface="Georgia"/>
              </a:defRPr>
            </a:pPr>
            <a:r>
              <a:t>2</a:t>
            </a:r>
          </a:p>
        </p:txBody>
      </p:sp>
      <p:sp>
        <p:nvSpPr>
          <p:cNvPr id="13" name="TextBox 12"/>
          <p:cNvSpPr txBox="1"/>
          <p:nvPr/>
        </p:nvSpPr>
        <p:spPr>
          <a:xfrm>
            <a:off x="3474720" y="3566160"/>
            <a:ext cx="2377440" cy="457200"/>
          </a:xfrm>
          <a:prstGeom prst="rect">
            <a:avLst/>
          </a:prstGeom>
          <a:noFill/>
        </p:spPr>
        <p:txBody>
          <a:bodyPr wrap="none">
            <a:spAutoFit/>
          </a:bodyPr>
          <a:lstStyle/>
          <a:p>
            <a:pPr algn="ctr">
              <a:defRPr sz="850" b="1">
                <a:solidFill>
                  <a:srgbClr val="F5F2EB"/>
                </a:solidFill>
                <a:latin typeface="Segoe UI"/>
              </a:defRPr>
            </a:pPr>
            <a:r>
              <a:t>SEC. 6 (LETTERS 61–65)</a:t>
            </a:r>
          </a:p>
        </p:txBody>
      </p:sp>
      <p:sp>
        <p:nvSpPr>
          <p:cNvPr id="14" name="Rounded Rectangle 13"/>
          <p:cNvSpPr/>
          <p:nvPr/>
        </p:nvSpPr>
        <p:spPr>
          <a:xfrm>
            <a:off x="6217920" y="731520"/>
            <a:ext cx="2011680" cy="274320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7648" y="822960"/>
            <a:ext cx="731520" cy="731520"/>
          </a:xfrm>
          <a:prstGeom prst="rect">
            <a:avLst/>
          </a:prstGeom>
          <a:noFill/>
        </p:spPr>
        <p:txBody>
          <a:bodyPr wrap="none" lIns="0" tIns="0" rIns="0" bIns="0">
            <a:spAutoFit/>
          </a:bodyPr>
          <a:lstStyle/>
          <a:p>
            <a:pPr>
              <a:defRPr sz="1800" b="1">
                <a:solidFill>
                  <a:srgbClr val="4A1C70"/>
                </a:solidFill>
                <a:latin typeface="Georgia"/>
              </a:defRPr>
            </a:pPr>
            <a:r>
              <a:t>3</a:t>
            </a:r>
          </a:p>
          <a:p>
            <a:pPr>
              <a:defRPr sz="1400">
                <a:solidFill>
                  <a:srgbClr val="4A1C70"/>
                </a:solidFill>
              </a:defRPr>
            </a:pPr>
            <a:r>
              <a:t>♣</a:t>
            </a:r>
          </a:p>
        </p:txBody>
      </p:sp>
      <p:sp>
        <p:nvSpPr>
          <p:cNvPr id="16" name="TextBox 15"/>
          <p:cNvSpPr txBox="1"/>
          <p:nvPr/>
        </p:nvSpPr>
        <p:spPr>
          <a:xfrm>
            <a:off x="6400800" y="1554480"/>
            <a:ext cx="1645920" cy="1097280"/>
          </a:xfrm>
          <a:prstGeom prst="rect">
            <a:avLst/>
          </a:prstGeom>
          <a:noFill/>
        </p:spPr>
        <p:txBody>
          <a:bodyPr wrap="none" lIns="0" tIns="0" rIns="0" bIns="0">
            <a:spAutoFit/>
          </a:bodyPr>
          <a:lstStyle/>
          <a:p>
            <a:pPr algn="ctr">
              <a:defRPr sz="3600">
                <a:solidFill>
                  <a:srgbClr val="4A1C70"/>
                </a:solidFill>
              </a:defRPr>
            </a:pPr>
            <a:r>
              <a:t>♣</a:t>
            </a:r>
          </a:p>
        </p:txBody>
      </p:sp>
      <p:sp>
        <p:nvSpPr>
          <p:cNvPr id="17" name="TextBox 16"/>
          <p:cNvSpPr txBox="1"/>
          <p:nvPr/>
        </p:nvSpPr>
        <p:spPr>
          <a:xfrm>
            <a:off x="7498080" y="2697480"/>
            <a:ext cx="621792" cy="731520"/>
          </a:xfrm>
          <a:prstGeom prst="rect">
            <a:avLst/>
          </a:prstGeom>
          <a:noFill/>
        </p:spPr>
        <p:txBody>
          <a:bodyPr wrap="none" lIns="0" tIns="0" rIns="0" bIns="0">
            <a:spAutoFit/>
          </a:bodyPr>
          <a:lstStyle/>
          <a:p>
            <a:pPr algn="r">
              <a:defRPr sz="1400">
                <a:solidFill>
                  <a:srgbClr val="4A1C70"/>
                </a:solidFill>
              </a:defRPr>
            </a:pPr>
            <a:r>
              <a:t>♣</a:t>
            </a:r>
          </a:p>
          <a:p>
            <a:pPr algn="r">
              <a:defRPr sz="1800" b="1">
                <a:solidFill>
                  <a:srgbClr val="4A1C70"/>
                </a:solidFill>
                <a:latin typeface="Georgia"/>
              </a:defRPr>
            </a:pPr>
            <a:r>
              <a:t>3</a:t>
            </a:r>
          </a:p>
        </p:txBody>
      </p:sp>
      <p:sp>
        <p:nvSpPr>
          <p:cNvPr id="18" name="TextBox 17"/>
          <p:cNvSpPr txBox="1"/>
          <p:nvPr/>
        </p:nvSpPr>
        <p:spPr>
          <a:xfrm>
            <a:off x="6035040" y="3566160"/>
            <a:ext cx="2377440" cy="457200"/>
          </a:xfrm>
          <a:prstGeom prst="rect">
            <a:avLst/>
          </a:prstGeom>
          <a:noFill/>
        </p:spPr>
        <p:txBody>
          <a:bodyPr wrap="none">
            <a:spAutoFit/>
          </a:bodyPr>
          <a:lstStyle/>
          <a:p>
            <a:pPr algn="ctr">
              <a:defRPr sz="850" b="1">
                <a:solidFill>
                  <a:srgbClr val="F5F2EB"/>
                </a:solidFill>
                <a:latin typeface="Segoe UI"/>
              </a:defRPr>
            </a:pPr>
            <a:r>
              <a:t>SEC. 6 (LETTERS 66–68)</a:t>
            </a:r>
          </a:p>
        </p:txBody>
      </p:sp>
      <p:sp>
        <p:nvSpPr>
          <p:cNvPr id="19" name="Rounded Rectangle 18"/>
          <p:cNvSpPr/>
          <p:nvPr/>
        </p:nvSpPr>
        <p:spPr>
          <a:xfrm>
            <a:off x="8778240" y="731520"/>
            <a:ext cx="2011680" cy="274320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87968" y="822960"/>
            <a:ext cx="731520" cy="731520"/>
          </a:xfrm>
          <a:prstGeom prst="rect">
            <a:avLst/>
          </a:prstGeom>
          <a:noFill/>
        </p:spPr>
        <p:txBody>
          <a:bodyPr wrap="none" lIns="0" tIns="0" rIns="0" bIns="0">
            <a:spAutoFit/>
          </a:bodyPr>
          <a:lstStyle/>
          <a:p>
            <a:pPr>
              <a:defRPr sz="1800" b="1">
                <a:solidFill>
                  <a:srgbClr val="4A1C70"/>
                </a:solidFill>
                <a:latin typeface="Georgia"/>
              </a:defRPr>
            </a:pPr>
            <a:r>
              <a:t>4</a:t>
            </a:r>
          </a:p>
          <a:p>
            <a:pPr>
              <a:defRPr sz="1400">
                <a:solidFill>
                  <a:srgbClr val="4A1C70"/>
                </a:solidFill>
              </a:defRPr>
            </a:pPr>
            <a:r>
              <a:t>♣</a:t>
            </a:r>
          </a:p>
        </p:txBody>
      </p:sp>
      <p:sp>
        <p:nvSpPr>
          <p:cNvPr id="21" name="TextBox 20"/>
          <p:cNvSpPr txBox="1"/>
          <p:nvPr/>
        </p:nvSpPr>
        <p:spPr>
          <a:xfrm>
            <a:off x="8961120" y="1554480"/>
            <a:ext cx="1645920" cy="1097280"/>
          </a:xfrm>
          <a:prstGeom prst="rect">
            <a:avLst/>
          </a:prstGeom>
          <a:noFill/>
        </p:spPr>
        <p:txBody>
          <a:bodyPr wrap="none" lIns="0" tIns="0" rIns="0" bIns="0">
            <a:spAutoFit/>
          </a:bodyPr>
          <a:lstStyle/>
          <a:p>
            <a:pPr algn="ctr">
              <a:defRPr sz="3600">
                <a:solidFill>
                  <a:srgbClr val="4A1C70"/>
                </a:solidFill>
              </a:defRPr>
            </a:pPr>
            <a:r>
              <a:t>♣</a:t>
            </a:r>
          </a:p>
        </p:txBody>
      </p:sp>
      <p:sp>
        <p:nvSpPr>
          <p:cNvPr id="22" name="TextBox 21"/>
          <p:cNvSpPr txBox="1"/>
          <p:nvPr/>
        </p:nvSpPr>
        <p:spPr>
          <a:xfrm>
            <a:off x="10058400" y="2697480"/>
            <a:ext cx="621792" cy="731520"/>
          </a:xfrm>
          <a:prstGeom prst="rect">
            <a:avLst/>
          </a:prstGeom>
          <a:noFill/>
        </p:spPr>
        <p:txBody>
          <a:bodyPr wrap="none" lIns="0" tIns="0" rIns="0" bIns="0">
            <a:spAutoFit/>
          </a:bodyPr>
          <a:lstStyle/>
          <a:p>
            <a:pPr algn="r">
              <a:defRPr sz="1400">
                <a:solidFill>
                  <a:srgbClr val="4A1C70"/>
                </a:solidFill>
              </a:defRPr>
            </a:pPr>
            <a:r>
              <a:t>♣</a:t>
            </a:r>
          </a:p>
          <a:p>
            <a:pPr algn="r">
              <a:defRPr sz="1800" b="1">
                <a:solidFill>
                  <a:srgbClr val="4A1C70"/>
                </a:solidFill>
                <a:latin typeface="Georgia"/>
              </a:defRPr>
            </a:pPr>
            <a:r>
              <a:t>4</a:t>
            </a:r>
          </a:p>
        </p:txBody>
      </p:sp>
      <p:sp>
        <p:nvSpPr>
          <p:cNvPr id="23" name="TextBox 22"/>
          <p:cNvSpPr txBox="1"/>
          <p:nvPr/>
        </p:nvSpPr>
        <p:spPr>
          <a:xfrm>
            <a:off x="8595360" y="3566160"/>
            <a:ext cx="2377440" cy="457200"/>
          </a:xfrm>
          <a:prstGeom prst="rect">
            <a:avLst/>
          </a:prstGeom>
          <a:noFill/>
        </p:spPr>
        <p:txBody>
          <a:bodyPr wrap="none">
            <a:spAutoFit/>
          </a:bodyPr>
          <a:lstStyle/>
          <a:p>
            <a:pPr algn="ctr">
              <a:defRPr sz="850" b="1">
                <a:solidFill>
                  <a:srgbClr val="F5F2EB"/>
                </a:solidFill>
                <a:latin typeface="Segoe UI"/>
              </a:defRPr>
            </a:pPr>
            <a:r>
              <a:t>SEC. 6 (LETTERS 68–69)</a:t>
            </a:r>
          </a:p>
        </p:txBody>
      </p:sp>
      <p:sp>
        <p:nvSpPr>
          <p:cNvPr id="24" name="TextBox 23"/>
          <p:cNvSpPr txBox="1"/>
          <p:nvPr/>
        </p:nvSpPr>
        <p:spPr>
          <a:xfrm>
            <a:off x="914400" y="4434840"/>
            <a:ext cx="10362895" cy="1920240"/>
          </a:xfrm>
          <a:prstGeom prst="rect">
            <a:avLst/>
          </a:prstGeom>
          <a:noFill/>
        </p:spPr>
        <p:txBody>
          <a:bodyPr wrap="square">
            <a:spAutoFit/>
          </a:bodyPr>
          <a:lstStyle/>
          <a:p>
            <a:pPr algn="ctr">
              <a:defRPr sz="4000" b="1" i="1">
                <a:solidFill>
                  <a:srgbClr val="4A1C70"/>
                </a:solidFill>
                <a:latin typeface="Georgia"/>
              </a:defRPr>
            </a:pPr>
            <a:r>
              <a:t>Summary Of The Work</a:t>
            </a:r>
          </a:p>
          <a:p>
            <a:pPr algn="ctr">
              <a:spcBef>
                <a:spcPts val="600"/>
              </a:spcBef>
              <a:defRPr sz="1150" b="1">
                <a:solidFill>
                  <a:srgbClr val="4A1C70"/>
                </a:solidFill>
                <a:latin typeface="Segoe UI"/>
              </a:defRPr>
            </a:pPr>
            <a:r>
              <a:t>BASED ON SPARKNOTES SECTION 6 (LETTERS 61–69) &amp; PRIMARY NOVEL TEXT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68680"/>
          </a:xfrm>
          <a:prstGeom prst="rect">
            <a:avLst/>
          </a:prstGeom>
          <a:noFill/>
        </p:spPr>
        <p:txBody>
          <a:bodyPr wrap="none">
            <a:spAutoFit/>
          </a:bodyPr>
          <a:lstStyle/>
          <a:p>
            <a:pPr>
              <a:defRPr sz="2200" b="1" i="1">
                <a:solidFill>
                  <a:srgbClr val="4A1C70"/>
                </a:solidFill>
                <a:latin typeface="Georgia"/>
              </a:defRPr>
            </a:pPr>
            <a:r>
              <a:t>Part I. Contextual Background: Letters 1–60 (Primary Novel Text)</a:t>
            </a:r>
          </a:p>
          <a:p>
            <a:pPr>
              <a:defRPr sz="950" b="1">
                <a:solidFill>
                  <a:srgbClr val="4A1C70"/>
                </a:solidFill>
                <a:latin typeface="Segoe UI"/>
              </a:defRPr>
            </a:pPr>
            <a:r>
              <a:t>PRIMARY SOURCE: ALICE WALKER'S NOVEL TEXT — CELIE'S EARLY TRAUMA &amp; AWAKENING IN GEORGIA</a:t>
            </a:r>
          </a:p>
        </p:txBody>
      </p:sp>
      <p:sp>
        <p:nvSpPr>
          <p:cNvPr id="4" name="Rectangle 3"/>
          <p:cNvSpPr/>
          <p:nvPr/>
        </p:nvSpPr>
        <p:spPr>
          <a:xfrm>
            <a:off x="777240" y="1371600"/>
            <a:ext cx="10607040" cy="18288"/>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645920"/>
            <a:ext cx="3291840" cy="4663440"/>
          </a:xfrm>
          <a:prstGeom prst="roundRect">
            <a:avLst/>
          </a:prstGeom>
          <a:solidFill>
            <a:srgbClr val="FFFFFF"/>
          </a:solidFill>
          <a:ln w="19050">
            <a:solidFill>
              <a:srgbClr val="881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737360"/>
            <a:ext cx="731520" cy="731520"/>
          </a:xfrm>
          <a:prstGeom prst="rect">
            <a:avLst/>
          </a:prstGeom>
          <a:noFill/>
        </p:spPr>
        <p:txBody>
          <a:bodyPr wrap="none" lIns="0" tIns="0" rIns="0" bIns="0">
            <a:spAutoFit/>
          </a:bodyPr>
          <a:lstStyle/>
          <a:p>
            <a:pPr>
              <a:defRPr sz="1800" b="1">
                <a:solidFill>
                  <a:srgbClr val="881E44"/>
                </a:solidFill>
                <a:latin typeface="Georgia"/>
              </a:defRPr>
            </a:pPr>
            <a:r>
              <a:t>I</a:t>
            </a:r>
          </a:p>
          <a:p>
            <a:pPr>
              <a:defRPr sz="1400">
                <a:solidFill>
                  <a:srgbClr val="881E44"/>
                </a:solidFill>
              </a:defRPr>
            </a:pPr>
            <a:r>
              <a:t>♥</a:t>
            </a:r>
          </a:p>
        </p:txBody>
      </p:sp>
      <p:sp>
        <p:nvSpPr>
          <p:cNvPr id="7" name="TextBox 6"/>
          <p:cNvSpPr txBox="1"/>
          <p:nvPr/>
        </p:nvSpPr>
        <p:spPr>
          <a:xfrm>
            <a:off x="960120" y="3429000"/>
            <a:ext cx="2926080" cy="1097280"/>
          </a:xfrm>
          <a:prstGeom prst="rect">
            <a:avLst/>
          </a:prstGeom>
          <a:noFill/>
        </p:spPr>
        <p:txBody>
          <a:bodyPr wrap="none" lIns="0" tIns="0" rIns="0" bIns="0">
            <a:spAutoFit/>
          </a:bodyPr>
          <a:lstStyle/>
          <a:p>
            <a:pPr algn="ctr">
              <a:defRPr sz="3600">
                <a:solidFill>
                  <a:srgbClr val="881E44"/>
                </a:solidFill>
              </a:defRPr>
            </a:pPr>
            <a:r>
              <a:t>♥</a:t>
            </a:r>
          </a:p>
        </p:txBody>
      </p:sp>
      <p:sp>
        <p:nvSpPr>
          <p:cNvPr id="8" name="TextBox 7"/>
          <p:cNvSpPr txBox="1"/>
          <p:nvPr/>
        </p:nvSpPr>
        <p:spPr>
          <a:xfrm>
            <a:off x="3337560" y="5532120"/>
            <a:ext cx="621792" cy="731520"/>
          </a:xfrm>
          <a:prstGeom prst="rect">
            <a:avLst/>
          </a:prstGeom>
          <a:noFill/>
        </p:spPr>
        <p:txBody>
          <a:bodyPr wrap="none" lIns="0" tIns="0" rIns="0" bIns="0">
            <a:spAutoFit/>
          </a:bodyPr>
          <a:lstStyle/>
          <a:p>
            <a:pPr algn="r">
              <a:defRPr sz="1400">
                <a:solidFill>
                  <a:srgbClr val="881E44"/>
                </a:solidFill>
              </a:defRPr>
            </a:pPr>
            <a:r>
              <a:t>♥</a:t>
            </a:r>
          </a:p>
          <a:p>
            <a:pPr algn="r">
              <a:defRPr sz="1800" b="1">
                <a:solidFill>
                  <a:srgbClr val="881E44"/>
                </a:solidFill>
                <a:latin typeface="Georgia"/>
              </a:defRPr>
            </a:pPr>
            <a:r>
              <a:t>I</a:t>
            </a:r>
          </a:p>
        </p:txBody>
      </p:sp>
      <p:sp>
        <p:nvSpPr>
          <p:cNvPr id="9" name="TextBox 8"/>
          <p:cNvSpPr txBox="1"/>
          <p:nvPr/>
        </p:nvSpPr>
        <p:spPr>
          <a:xfrm>
            <a:off x="4389120" y="1645920"/>
            <a:ext cx="6949440" cy="4663440"/>
          </a:xfrm>
          <a:prstGeom prst="rect">
            <a:avLst/>
          </a:prstGeom>
          <a:noFill/>
        </p:spPr>
        <p:txBody>
          <a:bodyPr wrap="square">
            <a:spAutoFit/>
          </a:bodyPr>
          <a:lstStyle/>
          <a:p>
            <a:pPr>
              <a:spcBef>
                <a:spcPts val="0"/>
              </a:spcBef>
              <a:defRPr sz="1150" b="1">
                <a:solidFill>
                  <a:srgbClr val="4A1C70"/>
                </a:solidFill>
                <a:latin typeface="Segoe UI"/>
              </a:defRPr>
            </a:pPr>
            <a:r>
              <a:t>Celie's Trauma &amp; Silencing (Letters 1–10)</a:t>
            </a:r>
          </a:p>
          <a:p>
            <a:pPr>
              <a:spcBef>
                <a:spcPts val="200"/>
              </a:spcBef>
              <a:defRPr sz="1000">
                <a:solidFill>
                  <a:srgbClr val="221E28"/>
                </a:solidFill>
                <a:latin typeface="Segoe UI"/>
              </a:defRPr>
            </a:pPr>
            <a:r>
              <a:t>Celie, 14, begins writing to God because her stepfather Alphonso abuses her, warns her never to tell anyone, and forcibly gives away her two infants (Olivia and Adam) at birth.</a:t>
            </a:r>
          </a:p>
          <a:p>
            <a:pPr>
              <a:spcBef>
                <a:spcPts val="800"/>
              </a:spcBef>
              <a:defRPr sz="1150" b="1">
                <a:solidFill>
                  <a:srgbClr val="4A1C70"/>
                </a:solidFill>
                <a:latin typeface="Segoe UI"/>
              </a:defRPr>
            </a:pPr>
            <a:r>
              <a:t>Chattel Marriage to Albert (Letters 11–25)</a:t>
            </a:r>
          </a:p>
          <a:p>
            <a:pPr>
              <a:spcBef>
                <a:spcPts val="200"/>
              </a:spcBef>
              <a:defRPr sz="1000">
                <a:solidFill>
                  <a:srgbClr val="221E28"/>
                </a:solidFill>
                <a:latin typeface="Segoe UI"/>
              </a:defRPr>
            </a:pPr>
            <a:r>
              <a:t>Alphonso trades Celie to Albert (Mr. _____) along with a cow to serve as an unpaid domestic worker and caretaker for his violent children. Nettie flees Albert's advances; Albert vows Celie will never hear from her.</a:t>
            </a:r>
          </a:p>
          <a:p>
            <a:pPr>
              <a:spcBef>
                <a:spcPts val="800"/>
              </a:spcBef>
              <a:defRPr sz="1150" b="1">
                <a:solidFill>
                  <a:srgbClr val="4A1C70"/>
                </a:solidFill>
                <a:latin typeface="Segoe UI"/>
              </a:defRPr>
            </a:pPr>
            <a:r>
              <a:t>Sofia's Defiance &amp; Incarceration (Letters 26–45)</a:t>
            </a:r>
          </a:p>
          <a:p>
            <a:pPr>
              <a:spcBef>
                <a:spcPts val="200"/>
              </a:spcBef>
              <a:defRPr sz="1000">
                <a:solidFill>
                  <a:srgbClr val="221E28"/>
                </a:solidFill>
                <a:latin typeface="Segoe UI"/>
              </a:defRPr>
            </a:pPr>
            <a:r>
              <a:t>Sofia refuses Harpo's attempts to dominate her; defies the white mayor when asked to be a maid ('Hell no!'), is brutally beaten by police, imprisoned in the laundry, and made the mayor's indentured servant.</a:t>
            </a:r>
          </a:p>
          <a:p>
            <a:pPr>
              <a:spcBef>
                <a:spcPts val="800"/>
              </a:spcBef>
              <a:defRPr sz="1150" b="1">
                <a:solidFill>
                  <a:srgbClr val="4A1C70"/>
                </a:solidFill>
                <a:latin typeface="Segoe UI"/>
              </a:defRPr>
            </a:pPr>
            <a:r>
              <a:t>Shug Avery's Transformative Love (Letters 46–60)</a:t>
            </a:r>
          </a:p>
          <a:p>
            <a:pPr>
              <a:spcBef>
                <a:spcPts val="200"/>
              </a:spcBef>
              <a:defRPr sz="1000">
                <a:solidFill>
                  <a:srgbClr val="221E28"/>
                </a:solidFill>
                <a:latin typeface="Segoe UI"/>
              </a:defRPr>
            </a:pPr>
            <a:r>
              <a:t>Albert brings home his dying former lover, blues singer Shug Avery. Celie nurses Shug to health; Shug awakens Celie to physical joy, self-worth, and dedicates 'Miss Celie's Song' to her.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68680"/>
          </a:xfrm>
          <a:prstGeom prst="rect">
            <a:avLst/>
          </a:prstGeom>
          <a:noFill/>
        </p:spPr>
        <p:txBody>
          <a:bodyPr wrap="none">
            <a:spAutoFit/>
          </a:bodyPr>
          <a:lstStyle/>
          <a:p>
            <a:pPr>
              <a:defRPr sz="2200" b="1" i="1">
                <a:solidFill>
                  <a:srgbClr val="4A1C70"/>
                </a:solidFill>
                <a:latin typeface="Georgia"/>
              </a:defRPr>
            </a:pPr>
            <a:r>
              <a:t>Part II. Letters 61–65: The Hidden Letters &amp; Nettie's Odyssey</a:t>
            </a:r>
          </a:p>
          <a:p>
            <a:pPr>
              <a:defRPr sz="950" b="1">
                <a:solidFill>
                  <a:srgbClr val="4A1C70"/>
                </a:solidFill>
                <a:latin typeface="Segoe UI"/>
              </a:defRPr>
            </a:pPr>
            <a:r>
              <a:t>SOURCE: SPARKNOTES SECTION 6 (PART 1) — THE DISCOVERY OF ALBERT'S TRUNK &amp; TRANSATLANTIC MISSION</a:t>
            </a:r>
          </a:p>
        </p:txBody>
      </p:sp>
      <p:sp>
        <p:nvSpPr>
          <p:cNvPr id="4" name="Rectangle 3"/>
          <p:cNvSpPr/>
          <p:nvPr/>
        </p:nvSpPr>
        <p:spPr>
          <a:xfrm>
            <a:off x="777240" y="1371600"/>
            <a:ext cx="10607040" cy="18288"/>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645920"/>
            <a:ext cx="3291840" cy="466344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737360"/>
            <a:ext cx="731520" cy="731520"/>
          </a:xfrm>
          <a:prstGeom prst="rect">
            <a:avLst/>
          </a:prstGeom>
          <a:noFill/>
        </p:spPr>
        <p:txBody>
          <a:bodyPr wrap="none" lIns="0" tIns="0" rIns="0" bIns="0">
            <a:spAutoFit/>
          </a:bodyPr>
          <a:lstStyle/>
          <a:p>
            <a:pPr>
              <a:defRPr sz="1800" b="1">
                <a:solidFill>
                  <a:srgbClr val="4A1C70"/>
                </a:solidFill>
                <a:latin typeface="Georgia"/>
              </a:defRPr>
            </a:pPr>
            <a:r>
              <a:t>II</a:t>
            </a:r>
          </a:p>
          <a:p>
            <a:pPr>
              <a:defRPr sz="1400">
                <a:solidFill>
                  <a:srgbClr val="4A1C70"/>
                </a:solidFill>
              </a:defRPr>
            </a:pPr>
            <a:r>
              <a:t>♠</a:t>
            </a:r>
          </a:p>
        </p:txBody>
      </p:sp>
      <p:sp>
        <p:nvSpPr>
          <p:cNvPr id="7" name="TextBox 6"/>
          <p:cNvSpPr txBox="1"/>
          <p:nvPr/>
        </p:nvSpPr>
        <p:spPr>
          <a:xfrm>
            <a:off x="960120" y="3429000"/>
            <a:ext cx="2926080" cy="1097280"/>
          </a:xfrm>
          <a:prstGeom prst="rect">
            <a:avLst/>
          </a:prstGeom>
          <a:noFill/>
        </p:spPr>
        <p:txBody>
          <a:bodyPr wrap="none" lIns="0" tIns="0" rIns="0" bIns="0">
            <a:spAutoFit/>
          </a:bodyPr>
          <a:lstStyle/>
          <a:p>
            <a:pPr algn="ctr">
              <a:defRPr sz="3600">
                <a:solidFill>
                  <a:srgbClr val="4A1C70"/>
                </a:solidFill>
              </a:defRPr>
            </a:pPr>
            <a:r>
              <a:t>♠</a:t>
            </a:r>
          </a:p>
        </p:txBody>
      </p:sp>
      <p:sp>
        <p:nvSpPr>
          <p:cNvPr id="8" name="TextBox 7"/>
          <p:cNvSpPr txBox="1"/>
          <p:nvPr/>
        </p:nvSpPr>
        <p:spPr>
          <a:xfrm>
            <a:off x="3337560" y="5532120"/>
            <a:ext cx="621792" cy="731520"/>
          </a:xfrm>
          <a:prstGeom prst="rect">
            <a:avLst/>
          </a:prstGeom>
          <a:noFill/>
        </p:spPr>
        <p:txBody>
          <a:bodyPr wrap="none" lIns="0" tIns="0" rIns="0" bIns="0">
            <a:spAutoFit/>
          </a:bodyPr>
          <a:lstStyle/>
          <a:p>
            <a:pPr algn="r">
              <a:defRPr sz="1400">
                <a:solidFill>
                  <a:srgbClr val="4A1C70"/>
                </a:solidFill>
              </a:defRPr>
            </a:pPr>
            <a:r>
              <a:t>♠</a:t>
            </a:r>
          </a:p>
          <a:p>
            <a:pPr algn="r">
              <a:defRPr sz="1800" b="1">
                <a:solidFill>
                  <a:srgbClr val="4A1C70"/>
                </a:solidFill>
                <a:latin typeface="Georgia"/>
              </a:defRPr>
            </a:pPr>
            <a:r>
              <a:t>II</a:t>
            </a:r>
          </a:p>
        </p:txBody>
      </p:sp>
      <p:sp>
        <p:nvSpPr>
          <p:cNvPr id="9" name="TextBox 8"/>
          <p:cNvSpPr txBox="1"/>
          <p:nvPr/>
        </p:nvSpPr>
        <p:spPr>
          <a:xfrm>
            <a:off x="4389120" y="1645920"/>
            <a:ext cx="6949440" cy="4663440"/>
          </a:xfrm>
          <a:prstGeom prst="rect">
            <a:avLst/>
          </a:prstGeom>
          <a:noFill/>
        </p:spPr>
        <p:txBody>
          <a:bodyPr wrap="square">
            <a:spAutoFit/>
          </a:bodyPr>
          <a:lstStyle/>
          <a:p>
            <a:pPr>
              <a:spcBef>
                <a:spcPts val="0"/>
              </a:spcBef>
              <a:defRPr sz="1150" b="1">
                <a:solidFill>
                  <a:srgbClr val="4A1C70"/>
                </a:solidFill>
                <a:latin typeface="Segoe UI"/>
              </a:defRPr>
            </a:pPr>
            <a:r>
              <a:t>The Intercepted Letters in the Trunk (Letters 61–63)</a:t>
            </a:r>
          </a:p>
          <a:p>
            <a:pPr>
              <a:spcBef>
                <a:spcPts val="200"/>
              </a:spcBef>
              <a:defRPr sz="1000">
                <a:solidFill>
                  <a:srgbClr val="221E28"/>
                </a:solidFill>
                <a:latin typeface="Segoe UI"/>
              </a:defRPr>
            </a:pPr>
            <a:r>
              <a:t>Shug spots Albert hiding mail with African stamps in his coat. Decades of Nettie's letters are locked in Albert's trunk under tobacco. Shug steals the key, and Celie steams open the envelopes over a boiling kettle.</a:t>
            </a:r>
          </a:p>
          <a:p>
            <a:pPr>
              <a:spcBef>
                <a:spcPts val="800"/>
              </a:spcBef>
              <a:defRPr sz="1150" b="1">
                <a:solidFill>
                  <a:srgbClr val="4A1C70"/>
                </a:solidFill>
                <a:latin typeface="Segoe UI"/>
              </a:defRPr>
            </a:pPr>
            <a:r>
              <a:t>Nettie's Escape Recounted (Letter 64)</a:t>
            </a:r>
          </a:p>
          <a:p>
            <a:pPr>
              <a:spcBef>
                <a:spcPts val="200"/>
              </a:spcBef>
              <a:defRPr sz="1000">
                <a:solidFill>
                  <a:srgbClr val="221E28"/>
                </a:solidFill>
                <a:latin typeface="Segoe UI"/>
              </a:defRPr>
            </a:pPr>
            <a:r>
              <a:t>Nettie's first letter reveals Albert chased her on horseback, attempting rape; Nettie fought him off. In revenge, Albert swore Celie would never hear from her again.</a:t>
            </a:r>
          </a:p>
          <a:p>
            <a:pPr>
              <a:spcBef>
                <a:spcPts val="800"/>
              </a:spcBef>
              <a:defRPr sz="1150" b="1">
                <a:solidFill>
                  <a:srgbClr val="4A1C70"/>
                </a:solidFill>
                <a:latin typeface="Segoe UI"/>
              </a:defRPr>
            </a:pPr>
            <a:r>
              <a:t>The Miracle of Celie's Children (Letters 64–65)</a:t>
            </a:r>
          </a:p>
          <a:p>
            <a:pPr>
              <a:spcBef>
                <a:spcPts val="200"/>
              </a:spcBef>
              <a:defRPr sz="1000">
                <a:solidFill>
                  <a:srgbClr val="221E28"/>
                </a:solidFill>
                <a:latin typeface="Segoe UI"/>
              </a:defRPr>
            </a:pPr>
            <a:r>
              <a:t>Nettie sought shelter with Reverend Samuel and Corrine, discovering their adopted children, Olivia and Adam, are Celie's stolen babies! Nettie joins them as a missionary to care for her niece and nephew.</a:t>
            </a:r>
          </a:p>
          <a:p>
            <a:pPr>
              <a:spcBef>
                <a:spcPts val="800"/>
              </a:spcBef>
              <a:defRPr sz="1150" b="1">
                <a:solidFill>
                  <a:srgbClr val="4A1C70"/>
                </a:solidFill>
                <a:latin typeface="Segoe UI"/>
              </a:defRPr>
            </a:pPr>
            <a:r>
              <a:t>Transatlantic Voyage &amp; African Arrival (Letter 65)</a:t>
            </a:r>
          </a:p>
          <a:p>
            <a:pPr>
              <a:spcBef>
                <a:spcPts val="200"/>
              </a:spcBef>
              <a:defRPr sz="1000">
                <a:solidFill>
                  <a:srgbClr val="221E28"/>
                </a:solidFill>
                <a:latin typeface="Segoe UI"/>
              </a:defRPr>
            </a:pPr>
            <a:r>
              <a:t>Nettie marvels at Harlem's Black pride; visits British museums filled with looted African art; arrives in Senegal and Monrovia, trekking 4 days into the bush to reach the Olinka village.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68680"/>
          </a:xfrm>
          <a:prstGeom prst="rect">
            <a:avLst/>
          </a:prstGeom>
          <a:noFill/>
        </p:spPr>
        <p:txBody>
          <a:bodyPr wrap="none">
            <a:spAutoFit/>
          </a:bodyPr>
          <a:lstStyle/>
          <a:p>
            <a:pPr>
              <a:defRPr sz="2200" b="1" i="1">
                <a:solidFill>
                  <a:srgbClr val="4A1C70"/>
                </a:solidFill>
                <a:latin typeface="Georgia"/>
              </a:defRPr>
            </a:pPr>
            <a:r>
              <a:t>Part III. Letters 66–68: Olinka Culture, Roofleaf &amp; Imperial Destruction</a:t>
            </a:r>
          </a:p>
          <a:p>
            <a:pPr>
              <a:defRPr sz="950" b="1">
                <a:solidFill>
                  <a:srgbClr val="4A1C70"/>
                </a:solidFill>
                <a:latin typeface="Segoe UI"/>
              </a:defRPr>
            </a:pPr>
            <a:r>
              <a:t>SOURCE: SPARKNOTES SECTION 6 (PART 2) — THE SACRED ROOFLEAF, BRITISH RUBBER ROAD &amp; CORRINE'S PEACE</a:t>
            </a:r>
          </a:p>
        </p:txBody>
      </p:sp>
      <p:sp>
        <p:nvSpPr>
          <p:cNvPr id="4" name="Rectangle 3"/>
          <p:cNvSpPr/>
          <p:nvPr/>
        </p:nvSpPr>
        <p:spPr>
          <a:xfrm>
            <a:off x="777240" y="1371600"/>
            <a:ext cx="10607040" cy="18288"/>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645920"/>
            <a:ext cx="3291840" cy="466344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737360"/>
            <a:ext cx="731520" cy="731520"/>
          </a:xfrm>
          <a:prstGeom prst="rect">
            <a:avLst/>
          </a:prstGeom>
          <a:noFill/>
        </p:spPr>
        <p:txBody>
          <a:bodyPr wrap="none" lIns="0" tIns="0" rIns="0" bIns="0">
            <a:spAutoFit/>
          </a:bodyPr>
          <a:lstStyle/>
          <a:p>
            <a:pPr>
              <a:defRPr sz="1800" b="1">
                <a:solidFill>
                  <a:srgbClr val="4A1C70"/>
                </a:solidFill>
                <a:latin typeface="Georgia"/>
              </a:defRPr>
            </a:pPr>
            <a:r>
              <a:t>III</a:t>
            </a:r>
          </a:p>
          <a:p>
            <a:pPr>
              <a:defRPr sz="1400">
                <a:solidFill>
                  <a:srgbClr val="4A1C70"/>
                </a:solidFill>
              </a:defRPr>
            </a:pPr>
            <a:r>
              <a:t>♣</a:t>
            </a:r>
          </a:p>
        </p:txBody>
      </p:sp>
      <p:sp>
        <p:nvSpPr>
          <p:cNvPr id="7" name="TextBox 6"/>
          <p:cNvSpPr txBox="1"/>
          <p:nvPr/>
        </p:nvSpPr>
        <p:spPr>
          <a:xfrm>
            <a:off x="960120" y="3429000"/>
            <a:ext cx="2926080" cy="1097280"/>
          </a:xfrm>
          <a:prstGeom prst="rect">
            <a:avLst/>
          </a:prstGeom>
          <a:noFill/>
        </p:spPr>
        <p:txBody>
          <a:bodyPr wrap="none" lIns="0" tIns="0" rIns="0" bIns="0">
            <a:spAutoFit/>
          </a:bodyPr>
          <a:lstStyle/>
          <a:p>
            <a:pPr algn="ctr">
              <a:defRPr sz="3600">
                <a:solidFill>
                  <a:srgbClr val="4A1C70"/>
                </a:solidFill>
              </a:defRPr>
            </a:pPr>
            <a:r>
              <a:t>♣</a:t>
            </a:r>
          </a:p>
        </p:txBody>
      </p:sp>
      <p:sp>
        <p:nvSpPr>
          <p:cNvPr id="8" name="TextBox 7"/>
          <p:cNvSpPr txBox="1"/>
          <p:nvPr/>
        </p:nvSpPr>
        <p:spPr>
          <a:xfrm>
            <a:off x="3337560" y="5532120"/>
            <a:ext cx="621792" cy="731520"/>
          </a:xfrm>
          <a:prstGeom prst="rect">
            <a:avLst/>
          </a:prstGeom>
          <a:noFill/>
        </p:spPr>
        <p:txBody>
          <a:bodyPr wrap="none" lIns="0" tIns="0" rIns="0" bIns="0">
            <a:spAutoFit/>
          </a:bodyPr>
          <a:lstStyle/>
          <a:p>
            <a:pPr algn="r">
              <a:defRPr sz="1400">
                <a:solidFill>
                  <a:srgbClr val="4A1C70"/>
                </a:solidFill>
              </a:defRPr>
            </a:pPr>
            <a:r>
              <a:t>♣</a:t>
            </a:r>
          </a:p>
          <a:p>
            <a:pPr algn="r">
              <a:defRPr sz="1800" b="1">
                <a:solidFill>
                  <a:srgbClr val="4A1C70"/>
                </a:solidFill>
                <a:latin typeface="Georgia"/>
              </a:defRPr>
            </a:pPr>
            <a:r>
              <a:t>III</a:t>
            </a:r>
          </a:p>
        </p:txBody>
      </p:sp>
      <p:sp>
        <p:nvSpPr>
          <p:cNvPr id="9" name="TextBox 8"/>
          <p:cNvSpPr txBox="1"/>
          <p:nvPr/>
        </p:nvSpPr>
        <p:spPr>
          <a:xfrm>
            <a:off x="4389120" y="1645920"/>
            <a:ext cx="6949440" cy="4663440"/>
          </a:xfrm>
          <a:prstGeom prst="rect">
            <a:avLst/>
          </a:prstGeom>
          <a:noFill/>
        </p:spPr>
        <p:txBody>
          <a:bodyPr wrap="square">
            <a:spAutoFit/>
          </a:bodyPr>
          <a:lstStyle/>
          <a:p>
            <a:pPr>
              <a:spcBef>
                <a:spcPts val="0"/>
              </a:spcBef>
              <a:defRPr sz="1150" b="1">
                <a:solidFill>
                  <a:srgbClr val="4A1C70"/>
                </a:solidFill>
                <a:latin typeface="Segoe UI"/>
              </a:defRPr>
            </a:pPr>
            <a:r>
              <a:t>The Sacred Roofleaf Deity (Letter 66)</a:t>
            </a:r>
          </a:p>
          <a:p>
            <a:pPr>
              <a:spcBef>
                <a:spcPts val="200"/>
              </a:spcBef>
              <a:defRPr sz="1000">
                <a:solidFill>
                  <a:srgbClr val="221E28"/>
                </a:solidFill>
                <a:latin typeface="Segoe UI"/>
              </a:defRPr>
            </a:pPr>
            <a:r>
              <a:t>The Olinka worship the protective roofleaf that covers their huts, originating from an ancient disaster when a greedy chief traded roofleaf land to white men and a hurricane nearly wiped out the village.</a:t>
            </a:r>
          </a:p>
          <a:p>
            <a:pPr>
              <a:spcBef>
                <a:spcPts val="800"/>
              </a:spcBef>
              <a:defRPr sz="1150" b="1">
                <a:solidFill>
                  <a:srgbClr val="4A1C70"/>
                </a:solidFill>
                <a:latin typeface="Segoe UI"/>
              </a:defRPr>
            </a:pPr>
            <a:r>
              <a:t>Olinka Gender Rigidity (Letter 67)</a:t>
            </a:r>
          </a:p>
          <a:p>
            <a:pPr>
              <a:spcBef>
                <a:spcPts val="200"/>
              </a:spcBef>
              <a:defRPr sz="1000">
                <a:solidFill>
                  <a:srgbClr val="221E28"/>
                </a:solidFill>
                <a:latin typeface="Segoe UI"/>
              </a:defRPr>
            </a:pPr>
            <a:r>
              <a:t>Olinka men bar girls from education ('a girl is nothing to herself, only to her husband'). Tashi secretly studies in Nettie's hut with Olivia at night, highlighting patriarchal oppression across continents.</a:t>
            </a:r>
          </a:p>
          <a:p>
            <a:pPr>
              <a:spcBef>
                <a:spcPts val="800"/>
              </a:spcBef>
              <a:defRPr sz="1150" b="1">
                <a:solidFill>
                  <a:srgbClr val="4A1C70"/>
                </a:solidFill>
                <a:latin typeface="Segoe UI"/>
              </a:defRPr>
            </a:pPr>
            <a:r>
              <a:t>Colonial Road &amp; Erasure of Sacred Space (Letter 68)</a:t>
            </a:r>
          </a:p>
          <a:p>
            <a:pPr>
              <a:spcBef>
                <a:spcPts val="200"/>
              </a:spcBef>
              <a:defRPr sz="1000">
                <a:solidFill>
                  <a:srgbClr val="221E28"/>
                </a:solidFill>
                <a:latin typeface="Segoe UI"/>
              </a:defRPr>
            </a:pPr>
            <a:r>
              <a:t>An English rubber company buys the territory from afar. Armed roadbuilders bulldoze right through Catherine's yam fields and huts, destroying every stalk of sacred roofleaf.</a:t>
            </a:r>
          </a:p>
          <a:p>
            <a:pPr>
              <a:spcBef>
                <a:spcPts val="800"/>
              </a:spcBef>
              <a:defRPr sz="1150" b="1">
                <a:solidFill>
                  <a:srgbClr val="4A1C70"/>
                </a:solidFill>
                <a:latin typeface="Segoe UI"/>
              </a:defRPr>
            </a:pPr>
            <a:r>
              <a:t>Corrugated Tin Defeat &amp; Corrine's Death (Letter 68)</a:t>
            </a:r>
          </a:p>
          <a:p>
            <a:pPr>
              <a:spcBef>
                <a:spcPts val="200"/>
              </a:spcBef>
              <a:defRPr sz="1000">
                <a:solidFill>
                  <a:srgbClr val="221E28"/>
                </a:solidFill>
                <a:latin typeface="Segoe UI"/>
              </a:defRPr>
            </a:pPr>
            <a:r>
              <a:t>Forced to buy sweltering corrugated tin roofs and pay water taxes on their own streams, Olinka women wail in defeat. Corrine, suspecting Nettie, recognizes Celie's town quilt, whispers 'I believe,' and dies at peace.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515600" cy="868680"/>
          </a:xfrm>
          <a:prstGeom prst="rect">
            <a:avLst/>
          </a:prstGeom>
          <a:noFill/>
        </p:spPr>
        <p:txBody>
          <a:bodyPr wrap="none">
            <a:spAutoFit/>
          </a:bodyPr>
          <a:lstStyle/>
          <a:p>
            <a:pPr>
              <a:defRPr sz="2200" b="1" i="1">
                <a:solidFill>
                  <a:srgbClr val="4A1C70"/>
                </a:solidFill>
                <a:latin typeface="Georgia"/>
              </a:defRPr>
            </a:pPr>
            <a:r>
              <a:t>Part IV. Letters 68–69: Paternity Revelation, Sublimation &amp; 'Dear Nettie'</a:t>
            </a:r>
          </a:p>
          <a:p>
            <a:pPr>
              <a:defRPr sz="950" b="1">
                <a:solidFill>
                  <a:srgbClr val="4A1C70"/>
                </a:solidFill>
                <a:latin typeface="Segoe UI"/>
              </a:defRPr>
            </a:pPr>
            <a:r>
              <a:t>SOURCE: SPARKNOTES SECTION 6 (PART 3) — PATERNITY TRUTH, REFACTORING RAGE &amp; THEOLOGICAL LIBERATION</a:t>
            </a:r>
          </a:p>
        </p:txBody>
      </p:sp>
      <p:sp>
        <p:nvSpPr>
          <p:cNvPr id="4" name="Rectangle 3"/>
          <p:cNvSpPr/>
          <p:nvPr/>
        </p:nvSpPr>
        <p:spPr>
          <a:xfrm>
            <a:off x="777240" y="1371600"/>
            <a:ext cx="10607040" cy="18288"/>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645920"/>
            <a:ext cx="3291840" cy="4663440"/>
          </a:xfrm>
          <a:prstGeom prst="roundRect">
            <a:avLst/>
          </a:prstGeom>
          <a:solidFill>
            <a:srgbClr val="FFFFFF"/>
          </a:solidFill>
          <a:ln w="19050">
            <a:solidFill>
              <a:srgbClr val="881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737360"/>
            <a:ext cx="731520" cy="731520"/>
          </a:xfrm>
          <a:prstGeom prst="rect">
            <a:avLst/>
          </a:prstGeom>
          <a:noFill/>
        </p:spPr>
        <p:txBody>
          <a:bodyPr wrap="none" lIns="0" tIns="0" rIns="0" bIns="0">
            <a:spAutoFit/>
          </a:bodyPr>
          <a:lstStyle/>
          <a:p>
            <a:pPr>
              <a:defRPr sz="1800" b="1">
                <a:solidFill>
                  <a:srgbClr val="881E44"/>
                </a:solidFill>
                <a:latin typeface="Georgia"/>
              </a:defRPr>
            </a:pPr>
            <a:r>
              <a:t>IV</a:t>
            </a:r>
          </a:p>
          <a:p>
            <a:pPr>
              <a:defRPr sz="1400">
                <a:solidFill>
                  <a:srgbClr val="881E44"/>
                </a:solidFill>
              </a:defRPr>
            </a:pPr>
            <a:r>
              <a:t>♦</a:t>
            </a:r>
          </a:p>
        </p:txBody>
      </p:sp>
      <p:sp>
        <p:nvSpPr>
          <p:cNvPr id="7" name="TextBox 6"/>
          <p:cNvSpPr txBox="1"/>
          <p:nvPr/>
        </p:nvSpPr>
        <p:spPr>
          <a:xfrm>
            <a:off x="960120" y="3429000"/>
            <a:ext cx="2926080" cy="1097280"/>
          </a:xfrm>
          <a:prstGeom prst="rect">
            <a:avLst/>
          </a:prstGeom>
          <a:noFill/>
        </p:spPr>
        <p:txBody>
          <a:bodyPr wrap="none" lIns="0" tIns="0" rIns="0" bIns="0">
            <a:spAutoFit/>
          </a:bodyPr>
          <a:lstStyle/>
          <a:p>
            <a:pPr algn="ctr">
              <a:defRPr sz="3600">
                <a:solidFill>
                  <a:srgbClr val="881E44"/>
                </a:solidFill>
              </a:defRPr>
            </a:pPr>
            <a:r>
              <a:t>♦</a:t>
            </a:r>
          </a:p>
        </p:txBody>
      </p:sp>
      <p:sp>
        <p:nvSpPr>
          <p:cNvPr id="8" name="TextBox 7"/>
          <p:cNvSpPr txBox="1"/>
          <p:nvPr/>
        </p:nvSpPr>
        <p:spPr>
          <a:xfrm>
            <a:off x="3337560" y="5532120"/>
            <a:ext cx="621792" cy="731520"/>
          </a:xfrm>
          <a:prstGeom prst="rect">
            <a:avLst/>
          </a:prstGeom>
          <a:noFill/>
        </p:spPr>
        <p:txBody>
          <a:bodyPr wrap="none" lIns="0" tIns="0" rIns="0" bIns="0">
            <a:spAutoFit/>
          </a:bodyPr>
          <a:lstStyle/>
          <a:p>
            <a:pPr algn="r">
              <a:defRPr sz="1400">
                <a:solidFill>
                  <a:srgbClr val="881E44"/>
                </a:solidFill>
              </a:defRPr>
            </a:pPr>
            <a:r>
              <a:t>♦</a:t>
            </a:r>
          </a:p>
          <a:p>
            <a:pPr algn="r">
              <a:defRPr sz="1800" b="1">
                <a:solidFill>
                  <a:srgbClr val="881E44"/>
                </a:solidFill>
                <a:latin typeface="Georgia"/>
              </a:defRPr>
            </a:pPr>
            <a:r>
              <a:t>IV</a:t>
            </a:r>
          </a:p>
        </p:txBody>
      </p:sp>
      <p:sp>
        <p:nvSpPr>
          <p:cNvPr id="9" name="TextBox 8"/>
          <p:cNvSpPr txBox="1"/>
          <p:nvPr/>
        </p:nvSpPr>
        <p:spPr>
          <a:xfrm>
            <a:off x="4389120" y="1645920"/>
            <a:ext cx="6949440" cy="4663440"/>
          </a:xfrm>
          <a:prstGeom prst="rect">
            <a:avLst/>
          </a:prstGeom>
          <a:noFill/>
        </p:spPr>
        <p:txBody>
          <a:bodyPr wrap="square">
            <a:spAutoFit/>
          </a:bodyPr>
          <a:lstStyle/>
          <a:p>
            <a:pPr>
              <a:spcBef>
                <a:spcPts val="0"/>
              </a:spcBef>
              <a:defRPr sz="1150" b="1">
                <a:solidFill>
                  <a:srgbClr val="4A1C70"/>
                </a:solidFill>
                <a:latin typeface="Segoe UI"/>
              </a:defRPr>
            </a:pPr>
            <a:r>
              <a:t>The Paternity Truth: 'Pa is Not Our Pa!' (Letter 68)</a:t>
            </a:r>
          </a:p>
          <a:p>
            <a:pPr>
              <a:spcBef>
                <a:spcPts val="200"/>
              </a:spcBef>
              <a:defRPr sz="1000">
                <a:solidFill>
                  <a:srgbClr val="221E28"/>
                </a:solidFill>
                <a:latin typeface="Segoe UI"/>
              </a:defRPr>
            </a:pPr>
            <a:r>
              <a:t>Samuel reveals Celie's real father was an industrious, prosperous Black merchant/farmer whose store was burned and who was lynched by white competitors. Alphonso usurped the property and traumatized mother. Incest shame is lifted!</a:t>
            </a:r>
          </a:p>
          <a:p>
            <a:pPr>
              <a:spcBef>
                <a:spcPts val="800"/>
              </a:spcBef>
              <a:defRPr sz="1150" b="1">
                <a:solidFill>
                  <a:srgbClr val="4A1C70"/>
                </a:solidFill>
                <a:latin typeface="Segoe UI"/>
              </a:defRPr>
            </a:pPr>
            <a:r>
              <a:t>A Needle and Not a Razor (Letter 68)</a:t>
            </a:r>
          </a:p>
          <a:p>
            <a:pPr>
              <a:spcBef>
                <a:spcPts val="200"/>
              </a:spcBef>
              <a:defRPr sz="1000">
                <a:solidFill>
                  <a:srgbClr val="221E28"/>
                </a:solidFill>
                <a:latin typeface="Segoe UI"/>
              </a:defRPr>
            </a:pPr>
            <a:r>
              <a:t>Furious at Albert's cruelty, Celie contemplates slitting his throat with his shaving razor. Shug intervenes: channeling Celie's murderous rage into sewing custom pants, planting the seeds for 'Folkspants, Unlimited'.</a:t>
            </a:r>
          </a:p>
          <a:p>
            <a:pPr>
              <a:spcBef>
                <a:spcPts val="800"/>
              </a:spcBef>
              <a:defRPr sz="1150" b="1">
                <a:solidFill>
                  <a:srgbClr val="4A1C70"/>
                </a:solidFill>
                <a:latin typeface="Segoe UI"/>
              </a:defRPr>
            </a:pPr>
            <a:r>
              <a:t>The Epistolary Address Shift (Letter 69)</a:t>
            </a:r>
          </a:p>
          <a:p>
            <a:pPr>
              <a:spcBef>
                <a:spcPts val="200"/>
              </a:spcBef>
              <a:defRPr sz="1000">
                <a:solidFill>
                  <a:srgbClr val="221E28"/>
                </a:solidFill>
                <a:latin typeface="Segoe UI"/>
              </a:defRPr>
            </a:pPr>
            <a:r>
              <a:t>Celie renounces the patriarchal white God: 'What God do for me? ... The God I been praying to is a man ... Trifling, forgitful and lowdown.' Letter 69 officially begins: 'DEAR NETTIE'.</a:t>
            </a:r>
          </a:p>
          <a:p>
            <a:pPr>
              <a:spcBef>
                <a:spcPts val="800"/>
              </a:spcBef>
              <a:defRPr sz="1150" b="1">
                <a:solidFill>
                  <a:srgbClr val="4A1C70"/>
                </a:solidFill>
                <a:latin typeface="Segoe UI"/>
              </a:defRPr>
            </a:pPr>
            <a:r>
              <a:t>Panentheism &amp; The Color Purple (Letter 69)</a:t>
            </a:r>
          </a:p>
          <a:p>
            <a:pPr>
              <a:spcBef>
                <a:spcPts val="200"/>
              </a:spcBef>
              <a:defRPr sz="1000">
                <a:solidFill>
                  <a:srgbClr val="221E28"/>
                </a:solidFill>
                <a:latin typeface="Segoe UI"/>
              </a:defRPr>
            </a:pPr>
            <a:r>
              <a:t>Shug explains God as an immanent 'It' present in nature and human joy: 'I think it pisses God off if you walk by the color purple in a field somewhere and don't notice it.' Celie leaves with Shug for Memphis.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0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62895" cy="2011680"/>
          </a:xfrm>
          <a:prstGeom prst="rect">
            <a:avLst/>
          </a:prstGeom>
          <a:noFill/>
        </p:spPr>
        <p:txBody>
          <a:bodyPr wrap="square">
            <a:spAutoFit/>
          </a:bodyPr>
          <a:lstStyle/>
          <a:p>
            <a:pPr algn="ctr">
              <a:defRPr sz="4800" b="1" i="1">
                <a:solidFill>
                  <a:srgbClr val="F5F2EB"/>
                </a:solidFill>
                <a:latin typeface="Georgia"/>
              </a:defRPr>
            </a:pPr>
            <a:r>
              <a:t>Analysis of The Literary Work</a:t>
            </a:r>
          </a:p>
          <a:p>
            <a:pPr algn="ctr">
              <a:spcBef>
                <a:spcPts val="800"/>
              </a:spcBef>
              <a:defRPr sz="1400" b="1">
                <a:solidFill>
                  <a:srgbClr val="C8A038"/>
                </a:solidFill>
                <a:latin typeface="Segoe UI"/>
              </a:defRPr>
            </a:pPr>
            <a:r>
              <a:t>T H E   C O L O R   P U R P L E</a:t>
            </a:r>
          </a:p>
          <a:p>
            <a:pPr algn="ctr">
              <a:spcBef>
                <a:spcPts val="400"/>
              </a:spcBef>
              <a:defRPr sz="1200">
                <a:solidFill>
                  <a:srgbClr val="D2BEE6"/>
                </a:solidFill>
                <a:latin typeface="Segoe UI"/>
              </a:defRPr>
            </a:pPr>
            <a:r>
              <a:t>Setting, Character Psychology, Dialect &amp; Deep Symbolic Systems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48640"/>
            <a:ext cx="10515600" cy="548640"/>
          </a:xfrm>
          <a:prstGeom prst="rect">
            <a:avLst/>
          </a:prstGeom>
          <a:noFill/>
        </p:spPr>
        <p:txBody>
          <a:bodyPr wrap="none">
            <a:spAutoFit/>
          </a:bodyPr>
          <a:lstStyle/>
          <a:p>
            <a:pPr>
              <a:defRPr sz="2400" b="1" i="1">
                <a:solidFill>
                  <a:srgbClr val="4A1C70"/>
                </a:solidFill>
                <a:latin typeface="Georgia"/>
              </a:defRPr>
            </a:pPr>
            <a:r>
              <a:t>Setting Analysis: The Dual Transatlantic Landscapes</a:t>
            </a:r>
          </a:p>
        </p:txBody>
      </p:sp>
      <p:sp>
        <p:nvSpPr>
          <p:cNvPr id="4" name="Rectangle 3"/>
          <p:cNvSpPr/>
          <p:nvPr/>
        </p:nvSpPr>
        <p:spPr>
          <a:xfrm>
            <a:off x="777240" y="1188720"/>
            <a:ext cx="10607040" cy="18288"/>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463040"/>
            <a:ext cx="5120640" cy="475488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663440" cy="4297680"/>
          </a:xfrm>
          <a:prstGeom prst="rect">
            <a:avLst/>
          </a:prstGeom>
          <a:noFill/>
        </p:spPr>
        <p:txBody>
          <a:bodyPr wrap="square">
            <a:spAutoFit/>
          </a:bodyPr>
          <a:lstStyle/>
          <a:p>
            <a:pPr>
              <a:defRPr sz="1500" b="1">
                <a:solidFill>
                  <a:srgbClr val="4A1C70"/>
                </a:solidFill>
                <a:latin typeface="Georgia"/>
              </a:defRPr>
            </a:pPr>
            <a:r>
              <a:t>Rural Georgia: Domestic Isolation &amp; Jim Crow</a:t>
            </a:r>
          </a:p>
          <a:p>
            <a:pPr>
              <a:spcBef>
                <a:spcPts val="800"/>
              </a:spcBef>
              <a:defRPr sz="1050">
                <a:solidFill>
                  <a:srgbClr val="221E28"/>
                </a:solidFill>
                <a:latin typeface="Segoe UI"/>
              </a:defRPr>
            </a:pPr>
            <a:r>
              <a:rPr b="1"/>
              <a:t>• The Sharecropping Plantation: Isolated homesteads surrounded by cotton fields, dirt roads, and outdoor springs. The domestic sphere operates under male tyranny and total physical isolation.</a:t>
            </a:r>
          </a:p>
          <a:p>
            <a:pPr>
              <a:spcBef>
                <a:spcPts val="800"/>
              </a:spcBef>
              <a:defRPr sz="1050">
                <a:solidFill>
                  <a:srgbClr val="221E28"/>
                </a:solidFill>
                <a:latin typeface="Segoe UI"/>
              </a:defRPr>
            </a:pPr>
            <a:r>
              <a:rPr b="1"/>
              <a:t>• Pervasive Racial Terror: Lynching, arbitrary police brutality (Sofia's beating), and white economic domination prevent Black institutional security.</a:t>
            </a:r>
          </a:p>
          <a:p>
            <a:pPr>
              <a:spcBef>
                <a:spcPts val="800"/>
              </a:spcBef>
              <a:defRPr sz="1050">
                <a:solidFill>
                  <a:srgbClr val="221E28"/>
                </a:solidFill>
                <a:latin typeface="Segoe UI"/>
              </a:defRPr>
            </a:pPr>
            <a:r>
              <a:rPr b="1"/>
              <a:t>• Sanctuary Spaces: Private bedrooms, the porch, and Harpo's jukejoint operate as vital liminal spaces where Black music, community, and female intimacy flourish.</a:t>
            </a:r>
          </a:p>
        </p:txBody>
      </p:sp>
      <p:sp>
        <p:nvSpPr>
          <p:cNvPr id="7" name="Rounded Rectangle 6"/>
          <p:cNvSpPr/>
          <p:nvPr/>
        </p:nvSpPr>
        <p:spPr>
          <a:xfrm>
            <a:off x="6263640" y="1463040"/>
            <a:ext cx="5120640" cy="475488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663440" cy="4297680"/>
          </a:xfrm>
          <a:prstGeom prst="rect">
            <a:avLst/>
          </a:prstGeom>
          <a:noFill/>
        </p:spPr>
        <p:txBody>
          <a:bodyPr wrap="square">
            <a:spAutoFit/>
          </a:bodyPr>
          <a:lstStyle/>
          <a:p>
            <a:pPr>
              <a:defRPr sz="1500" b="1">
                <a:solidFill>
                  <a:srgbClr val="4A1C70"/>
                </a:solidFill>
                <a:latin typeface="Georgia"/>
              </a:defRPr>
            </a:pPr>
            <a:r>
              <a:t>Olinka Village: Communal Harmony &amp; Colonization</a:t>
            </a:r>
          </a:p>
          <a:p>
            <a:pPr>
              <a:spcBef>
                <a:spcPts val="800"/>
              </a:spcBef>
              <a:defRPr sz="1050">
                <a:solidFill>
                  <a:srgbClr val="221E28"/>
                </a:solidFill>
                <a:latin typeface="Segoe UI"/>
              </a:defRPr>
            </a:pPr>
            <a:r>
              <a:rPr b="1"/>
              <a:t>• Ancestral Symbiosis: Round mud huts thatched with sacred roofleaf, rich cassava and yam fields, and communal songs honoring nature's balance.</a:t>
            </a:r>
          </a:p>
          <a:p>
            <a:pPr>
              <a:spcBef>
                <a:spcPts val="800"/>
              </a:spcBef>
              <a:defRPr sz="1050">
                <a:solidFill>
                  <a:srgbClr val="221E28"/>
                </a:solidFill>
                <a:latin typeface="Segoe UI"/>
              </a:defRPr>
            </a:pPr>
            <a:r>
              <a:rPr b="1"/>
              <a:t>• Indigenous Patriarchy: Traditional gender segregation where girls are denied schooling and women submit to polygamous husbands with life-or-death power.</a:t>
            </a:r>
          </a:p>
          <a:p>
            <a:pPr>
              <a:spcBef>
                <a:spcPts val="800"/>
              </a:spcBef>
              <a:defRPr sz="1050">
                <a:solidFill>
                  <a:srgbClr val="221E28"/>
                </a:solidFill>
                <a:latin typeface="Segoe UI"/>
              </a:defRPr>
            </a:pPr>
            <a:r>
              <a:rPr b="1"/>
              <a:t>• Corporate Bulldozing: The arrival of the English rubber company road dismantles huts, trees, and water rights—replacing organic roofleaf with scorching corrugated tin.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48640"/>
            <a:ext cx="10515600" cy="548640"/>
          </a:xfrm>
          <a:prstGeom prst="rect">
            <a:avLst/>
          </a:prstGeom>
          <a:noFill/>
        </p:spPr>
        <p:txBody>
          <a:bodyPr wrap="none">
            <a:spAutoFit/>
          </a:bodyPr>
          <a:lstStyle/>
          <a:p>
            <a:pPr>
              <a:defRPr sz="2400" b="1" i="1">
                <a:solidFill>
                  <a:srgbClr val="4A1C70"/>
                </a:solidFill>
                <a:latin typeface="Georgia"/>
              </a:defRPr>
            </a:pPr>
            <a:r>
              <a:t>Character Psychology &amp; Relational Transformations</a:t>
            </a:r>
          </a:p>
        </p:txBody>
      </p:sp>
      <p:sp>
        <p:nvSpPr>
          <p:cNvPr id="4" name="Rectangle 3"/>
          <p:cNvSpPr/>
          <p:nvPr/>
        </p:nvSpPr>
        <p:spPr>
          <a:xfrm>
            <a:off x="777240" y="1188720"/>
            <a:ext cx="10607040" cy="18288"/>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463040"/>
            <a:ext cx="3456432" cy="475488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3090672" cy="4297680"/>
          </a:xfrm>
          <a:prstGeom prst="rect">
            <a:avLst/>
          </a:prstGeom>
          <a:noFill/>
        </p:spPr>
        <p:txBody>
          <a:bodyPr wrap="square">
            <a:spAutoFit/>
          </a:bodyPr>
          <a:lstStyle/>
          <a:p>
            <a:pPr>
              <a:defRPr sz="1800" b="1">
                <a:solidFill>
                  <a:srgbClr val="4A1C70"/>
                </a:solidFill>
                <a:latin typeface="Georgia"/>
              </a:defRPr>
            </a:pPr>
            <a:r>
              <a:t>Celie</a:t>
            </a:r>
          </a:p>
          <a:p>
            <a:pPr>
              <a:spcBef>
                <a:spcPts val="200"/>
              </a:spcBef>
              <a:defRPr sz="1050" i="1">
                <a:solidFill>
                  <a:srgbClr val="881E44"/>
                </a:solidFill>
                <a:latin typeface="Segoe UI"/>
              </a:defRPr>
            </a:pPr>
            <a:r>
              <a:t>From Silence to Sovereignty</a:t>
            </a:r>
          </a:p>
          <a:p>
            <a:pPr>
              <a:lnSpc>
                <a:spcPct val="130000"/>
              </a:lnSpc>
              <a:spcBef>
                <a:spcPts val="800"/>
              </a:spcBef>
              <a:defRPr sz="1000">
                <a:solidFill>
                  <a:srgbClr val="221E28"/>
                </a:solidFill>
                <a:latin typeface="Segoe UI"/>
              </a:defRPr>
            </a:pPr>
            <a:r>
              <a:t>Begins as a traumatized, mute domestic victim ('Celie, you a tree'). Through Shug's love, Nettie's recovered letters, and economic enterprise, she reclaims bodily autonomy and declares: 'I'm pore, I'm black, I may be ugly... But I'm here!'</a:t>
            </a:r>
          </a:p>
        </p:txBody>
      </p:sp>
      <p:sp>
        <p:nvSpPr>
          <p:cNvPr id="7" name="Rounded Rectangle 6"/>
          <p:cNvSpPr/>
          <p:nvPr/>
        </p:nvSpPr>
        <p:spPr>
          <a:xfrm>
            <a:off x="4416552" y="1463040"/>
            <a:ext cx="3456432" cy="475488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645920"/>
            <a:ext cx="3090672" cy="4297680"/>
          </a:xfrm>
          <a:prstGeom prst="rect">
            <a:avLst/>
          </a:prstGeom>
          <a:noFill/>
        </p:spPr>
        <p:txBody>
          <a:bodyPr wrap="square">
            <a:spAutoFit/>
          </a:bodyPr>
          <a:lstStyle/>
          <a:p>
            <a:pPr>
              <a:defRPr sz="1800" b="1">
                <a:solidFill>
                  <a:srgbClr val="4A1C70"/>
                </a:solidFill>
                <a:latin typeface="Georgia"/>
              </a:defRPr>
            </a:pPr>
            <a:r>
              <a:t>Shug Avery</a:t>
            </a:r>
          </a:p>
          <a:p>
            <a:pPr>
              <a:spcBef>
                <a:spcPts val="200"/>
              </a:spcBef>
              <a:defRPr sz="1050" i="1">
                <a:solidFill>
                  <a:srgbClr val="881E44"/>
                </a:solidFill>
                <a:latin typeface="Segoe UI"/>
              </a:defRPr>
            </a:pPr>
            <a:r>
              <a:t>The Autonomous Healer</a:t>
            </a:r>
          </a:p>
          <a:p>
            <a:pPr>
              <a:lnSpc>
                <a:spcPct val="130000"/>
              </a:lnSpc>
              <a:spcBef>
                <a:spcPts val="800"/>
              </a:spcBef>
              <a:defRPr sz="1000">
                <a:solidFill>
                  <a:srgbClr val="221E28"/>
                </a:solidFill>
                <a:latin typeface="Segoe UI"/>
              </a:defRPr>
            </a:pPr>
            <a:r>
              <a:t>Independent, fiercely sexual blues singer who refuses societal and patriarchal norms. Acts as the spiritual teacher who uncovers Albert's trunk, guides Celie away from murder to sewing, and preaches the immanence of God.</a:t>
            </a:r>
          </a:p>
        </p:txBody>
      </p:sp>
      <p:sp>
        <p:nvSpPr>
          <p:cNvPr id="9" name="Rounded Rectangle 8"/>
          <p:cNvSpPr/>
          <p:nvPr/>
        </p:nvSpPr>
        <p:spPr>
          <a:xfrm>
            <a:off x="8055864" y="1463040"/>
            <a:ext cx="3456432" cy="475488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8744" y="1645920"/>
            <a:ext cx="3090672" cy="4297680"/>
          </a:xfrm>
          <a:prstGeom prst="rect">
            <a:avLst/>
          </a:prstGeom>
          <a:noFill/>
        </p:spPr>
        <p:txBody>
          <a:bodyPr wrap="square">
            <a:spAutoFit/>
          </a:bodyPr>
          <a:lstStyle/>
          <a:p>
            <a:pPr>
              <a:defRPr sz="1800" b="1">
                <a:solidFill>
                  <a:srgbClr val="4A1C70"/>
                </a:solidFill>
                <a:latin typeface="Georgia"/>
              </a:defRPr>
            </a:pPr>
            <a:r>
              <a:t>Albert (Mr. _____)</a:t>
            </a:r>
          </a:p>
          <a:p>
            <a:pPr>
              <a:spcBef>
                <a:spcPts val="200"/>
              </a:spcBef>
              <a:defRPr sz="1050" i="1">
                <a:solidFill>
                  <a:srgbClr val="881E44"/>
                </a:solidFill>
                <a:latin typeface="Segoe UI"/>
              </a:defRPr>
            </a:pPr>
            <a:r>
              <a:t>Patriarch to Humble Companion</a:t>
            </a:r>
          </a:p>
          <a:p>
            <a:pPr>
              <a:lnSpc>
                <a:spcPct val="130000"/>
              </a:lnSpc>
              <a:spcBef>
                <a:spcPts val="800"/>
              </a:spcBef>
              <a:defRPr sz="1000">
                <a:solidFill>
                  <a:srgbClr val="221E28"/>
                </a:solidFill>
                <a:latin typeface="Segoe UI"/>
              </a:defRPr>
            </a:pPr>
            <a:r>
              <a:t>Begins as an abusive, arrogant patriarch who suppresses Nettie's letters. Driven to despair by Celie's curse, he repents, learns to clean, cook, and sew, becoming Celie's respectful friend under the stars.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48640"/>
            <a:ext cx="10515600" cy="548640"/>
          </a:xfrm>
          <a:prstGeom prst="rect">
            <a:avLst/>
          </a:prstGeom>
          <a:noFill/>
        </p:spPr>
        <p:txBody>
          <a:bodyPr wrap="none">
            <a:spAutoFit/>
          </a:bodyPr>
          <a:lstStyle/>
          <a:p>
            <a:pPr>
              <a:defRPr sz="2400" b="1" i="1">
                <a:solidFill>
                  <a:srgbClr val="4A1C70"/>
                </a:solidFill>
                <a:latin typeface="Georgia"/>
              </a:defRPr>
            </a:pPr>
            <a:r>
              <a:t>Deep Symbolism: Roofleaf, Folkspants &amp; The Color Purple</a:t>
            </a:r>
          </a:p>
        </p:txBody>
      </p:sp>
      <p:sp>
        <p:nvSpPr>
          <p:cNvPr id="4" name="Rectangle 3"/>
          <p:cNvSpPr/>
          <p:nvPr/>
        </p:nvSpPr>
        <p:spPr>
          <a:xfrm>
            <a:off x="777240" y="1188720"/>
            <a:ext cx="10607040" cy="18288"/>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463040"/>
            <a:ext cx="3456432" cy="475488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3090672" cy="4297680"/>
          </a:xfrm>
          <a:prstGeom prst="rect">
            <a:avLst/>
          </a:prstGeom>
          <a:noFill/>
        </p:spPr>
        <p:txBody>
          <a:bodyPr wrap="square">
            <a:spAutoFit/>
          </a:bodyPr>
          <a:lstStyle/>
          <a:p>
            <a:pPr>
              <a:defRPr sz="1400" b="1">
                <a:solidFill>
                  <a:srgbClr val="4A1C70"/>
                </a:solidFill>
                <a:latin typeface="Georgia"/>
              </a:defRPr>
            </a:pPr>
            <a:r>
              <a:t>The Sacred Roofleaf vs Corrugated Tin</a:t>
            </a:r>
          </a:p>
          <a:p>
            <a:pPr>
              <a:spcBef>
                <a:spcPts val="200"/>
              </a:spcBef>
              <a:defRPr sz="950" i="1">
                <a:solidFill>
                  <a:srgbClr val="881E44"/>
                </a:solidFill>
                <a:latin typeface="Segoe UI"/>
              </a:defRPr>
            </a:pPr>
            <a:r>
              <a:t>Natural Commons vs Industrial Violence</a:t>
            </a:r>
          </a:p>
          <a:p>
            <a:pPr>
              <a:spcBef>
                <a:spcPts val="600"/>
              </a:spcBef>
              <a:defRPr sz="950">
                <a:solidFill>
                  <a:srgbClr val="221E28"/>
                </a:solidFill>
                <a:latin typeface="Segoe UI"/>
              </a:defRPr>
            </a:pPr>
            <a:r>
              <a:rPr b="1"/>
              <a:t>• Sacred Symbiosis: Roofleaf provides natural, rainproof shelter and communal worship; embodies harmony between human labor and ecology.</a:t>
            </a:r>
          </a:p>
          <a:p>
            <a:pPr>
              <a:spcBef>
                <a:spcPts val="600"/>
              </a:spcBef>
              <a:defRPr sz="950">
                <a:solidFill>
                  <a:srgbClr val="221E28"/>
                </a:solidFill>
                <a:latin typeface="Segoe UI"/>
              </a:defRPr>
            </a:pPr>
            <a:r>
              <a:rPr b="1"/>
              <a:t>• Tin Exploitation: Replacing roofleaf with blistering corrugated tin represents the cold, extractive imposition of Western corporate capitalism.</a:t>
            </a:r>
          </a:p>
        </p:txBody>
      </p:sp>
      <p:sp>
        <p:nvSpPr>
          <p:cNvPr id="7" name="Rounded Rectangle 6"/>
          <p:cNvSpPr/>
          <p:nvPr/>
        </p:nvSpPr>
        <p:spPr>
          <a:xfrm>
            <a:off x="4416552" y="1463040"/>
            <a:ext cx="3456432" cy="475488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645920"/>
            <a:ext cx="3090672" cy="4297680"/>
          </a:xfrm>
          <a:prstGeom prst="rect">
            <a:avLst/>
          </a:prstGeom>
          <a:noFill/>
        </p:spPr>
        <p:txBody>
          <a:bodyPr wrap="square">
            <a:spAutoFit/>
          </a:bodyPr>
          <a:lstStyle/>
          <a:p>
            <a:pPr>
              <a:defRPr sz="1400" b="1">
                <a:solidFill>
                  <a:srgbClr val="4A1C70"/>
                </a:solidFill>
                <a:latin typeface="Georgia"/>
              </a:defRPr>
            </a:pPr>
            <a:r>
              <a:t>The Needle vs The Razor (Folkspants)</a:t>
            </a:r>
          </a:p>
          <a:p>
            <a:pPr>
              <a:spcBef>
                <a:spcPts val="200"/>
              </a:spcBef>
              <a:defRPr sz="950" i="1">
                <a:solidFill>
                  <a:srgbClr val="881E44"/>
                </a:solidFill>
                <a:latin typeface="Segoe UI"/>
              </a:defRPr>
            </a:pPr>
            <a:r>
              <a:t>Sublimation of Fury into Sovereignty</a:t>
            </a:r>
          </a:p>
          <a:p>
            <a:pPr>
              <a:spcBef>
                <a:spcPts val="600"/>
              </a:spcBef>
              <a:defRPr sz="950">
                <a:solidFill>
                  <a:srgbClr val="221E28"/>
                </a:solidFill>
                <a:latin typeface="Segoe UI"/>
              </a:defRPr>
            </a:pPr>
            <a:r>
              <a:rPr b="1"/>
              <a:t>• Refactoring Violence: Shug takes the open razor from Celie's hands and replaces it with the needle: converting destructive rage into creative labor.</a:t>
            </a:r>
          </a:p>
          <a:p>
            <a:pPr>
              <a:spcBef>
                <a:spcPts val="600"/>
              </a:spcBef>
              <a:defRPr sz="950">
                <a:solidFill>
                  <a:srgbClr val="221E28"/>
                </a:solidFill>
                <a:latin typeface="Segoe UI"/>
              </a:defRPr>
            </a:pPr>
            <a:r>
              <a:rPr b="1"/>
              <a:t>• Deconstructing Gender: Celie's pants deconstruct rigid gender roles, giving women mobility in the fields and men comfort in domestic spaces.</a:t>
            </a:r>
          </a:p>
        </p:txBody>
      </p:sp>
      <p:sp>
        <p:nvSpPr>
          <p:cNvPr id="9" name="Rounded Rectangle 8"/>
          <p:cNvSpPr/>
          <p:nvPr/>
        </p:nvSpPr>
        <p:spPr>
          <a:xfrm>
            <a:off x="8055864" y="1463040"/>
            <a:ext cx="3456432" cy="475488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8744" y="1645920"/>
            <a:ext cx="3090672" cy="4297680"/>
          </a:xfrm>
          <a:prstGeom prst="rect">
            <a:avLst/>
          </a:prstGeom>
          <a:noFill/>
        </p:spPr>
        <p:txBody>
          <a:bodyPr wrap="square">
            <a:spAutoFit/>
          </a:bodyPr>
          <a:lstStyle/>
          <a:p>
            <a:pPr>
              <a:defRPr sz="1400" b="1">
                <a:solidFill>
                  <a:srgbClr val="4A1C70"/>
                </a:solidFill>
                <a:latin typeface="Georgia"/>
              </a:defRPr>
            </a:pPr>
            <a:r>
              <a:t>The Color Purple</a:t>
            </a:r>
          </a:p>
          <a:p>
            <a:pPr>
              <a:spcBef>
                <a:spcPts val="200"/>
              </a:spcBef>
              <a:defRPr sz="950" i="1">
                <a:solidFill>
                  <a:srgbClr val="881E44"/>
                </a:solidFill>
                <a:latin typeface="Segoe UI"/>
              </a:defRPr>
            </a:pPr>
            <a:r>
              <a:t>Miraculous Grace &amp; The Divine Demand for Wonder</a:t>
            </a:r>
          </a:p>
          <a:p>
            <a:pPr>
              <a:spcBef>
                <a:spcPts val="600"/>
              </a:spcBef>
              <a:defRPr sz="950">
                <a:solidFill>
                  <a:srgbClr val="221E28"/>
                </a:solidFill>
                <a:latin typeface="Segoe UI"/>
              </a:defRPr>
            </a:pPr>
            <a:r>
              <a:rPr b="1"/>
              <a:t>• Theology of Admiration: 'It pisses God off if you walk by the color purple in a field somewhere and don't notice it.'</a:t>
            </a:r>
          </a:p>
          <a:p>
            <a:pPr>
              <a:spcBef>
                <a:spcPts val="600"/>
              </a:spcBef>
              <a:defRPr sz="950">
                <a:solidFill>
                  <a:srgbClr val="221E28"/>
                </a:solidFill>
                <a:latin typeface="Segoe UI"/>
              </a:defRPr>
            </a:pPr>
            <a:r>
              <a:rPr b="1"/>
              <a:t>• Reclaiming Royal Dignity: Purple represents the unexpected, radiant beauty in creation, marking Celie's resurrection from drab brown rags to regal wholeness.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0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80990" y="914400"/>
            <a:ext cx="1828800" cy="914400"/>
          </a:xfrm>
          <a:prstGeom prst="rect">
            <a:avLst/>
          </a:prstGeom>
          <a:noFill/>
        </p:spPr>
        <p:txBody>
          <a:bodyPr wrap="none">
            <a:spAutoFit/>
          </a:bodyPr>
          <a:lstStyle/>
          <a:p>
            <a:pPr algn="ctr">
              <a:defRPr sz="4400">
                <a:solidFill>
                  <a:srgbClr val="F5F2EB"/>
                </a:solidFill>
              </a:defRPr>
            </a:pPr>
            <a:r>
              <a:t>★</a:t>
            </a:r>
          </a:p>
        </p:txBody>
      </p:sp>
      <p:sp>
        <p:nvSpPr>
          <p:cNvPr id="4" name="TextBox 3"/>
          <p:cNvSpPr txBox="1"/>
          <p:nvPr/>
        </p:nvSpPr>
        <p:spPr>
          <a:xfrm>
            <a:off x="1828800" y="1920240"/>
            <a:ext cx="8534095" cy="1097280"/>
          </a:xfrm>
          <a:prstGeom prst="rect">
            <a:avLst/>
          </a:prstGeom>
          <a:noFill/>
        </p:spPr>
        <p:txBody>
          <a:bodyPr wrap="none">
            <a:spAutoFit/>
          </a:bodyPr>
          <a:lstStyle/>
          <a:p>
            <a:pPr algn="ctr">
              <a:defRPr sz="4400" b="1" i="1">
                <a:solidFill>
                  <a:srgbClr val="F5F2EB"/>
                </a:solidFill>
                <a:latin typeface="Georgia"/>
              </a:defRPr>
            </a:pPr>
            <a:r>
              <a:t>Literary Rating</a:t>
            </a:r>
          </a:p>
        </p:txBody>
      </p:sp>
      <p:sp>
        <p:nvSpPr>
          <p:cNvPr id="5" name="TextBox 4"/>
          <p:cNvSpPr txBox="1"/>
          <p:nvPr/>
        </p:nvSpPr>
        <p:spPr>
          <a:xfrm>
            <a:off x="1371600" y="3291840"/>
            <a:ext cx="9448495" cy="2926080"/>
          </a:xfrm>
          <a:prstGeom prst="rect">
            <a:avLst/>
          </a:prstGeom>
          <a:noFill/>
        </p:spPr>
        <p:txBody>
          <a:bodyPr wrap="square">
            <a:spAutoFit/>
          </a:bodyPr>
          <a:lstStyle/>
          <a:p>
            <a:pPr algn="just">
              <a:lnSpc>
                <a:spcPct val="140000"/>
              </a:lnSpc>
              <a:defRPr sz="1200">
                <a:solidFill>
                  <a:srgbClr val="F5F2EB"/>
                </a:solidFill>
                <a:latin typeface="Segoe UI"/>
              </a:defRPr>
            </a:pPr>
            <a:r>
              <a:t>TO EVALUATE THE COLOR PURPLE, WE USE SEVEN ESTABLISHED LITERARY STANDARDS: UNIVERSALITY, PERMANENCE, SUGGESTIVENESS, INTELLECTUAL VALUE, SPIRITUAL VALUE, STYLE, AND ARTISTRY. THESE STANDARDS ARE RECOGNIZED AS CRITERIA FOR EVALUATING AND ANALYZING LITERARY WORKS (GARCIA ET AL., UST PUBLISHING HOUSE).</a:t>
            </a:r>
          </a:p>
          <a:p>
            <a:pPr algn="just">
              <a:lnSpc>
                <a:spcPct val="140000"/>
              </a:lnSpc>
              <a:spcBef>
                <a:spcPts val="1600"/>
              </a:spcBef>
              <a:defRPr sz="1200">
                <a:solidFill>
                  <a:srgbClr val="DCCDEB"/>
                </a:solidFill>
                <a:latin typeface="Segoe UI"/>
              </a:defRPr>
            </a:pPr>
            <a:r>
              <a:t>EACH STANDARD IS CONSIDERED INDIVIDUALLY TO DETERMINE HOW STRONGLY THE LITERARY WORK DEMONSTRATES THAT PARTICULAR QUALITY. THE RESULTING RATINGS PROVIDE A STRUCTURED ASSESSMENT OF THE NOVEL BASED ON THESE SEVEN RIGOROUS LITERARY STANDARDS.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80990" y="365760"/>
            <a:ext cx="1828800" cy="548640"/>
          </a:xfrm>
          <a:prstGeom prst="rect">
            <a:avLst/>
          </a:prstGeom>
          <a:noFill/>
        </p:spPr>
        <p:txBody>
          <a:bodyPr wrap="none">
            <a:spAutoFit/>
          </a:bodyPr>
          <a:lstStyle/>
          <a:p>
            <a:pPr algn="ctr">
              <a:defRPr sz="2800">
                <a:solidFill>
                  <a:srgbClr val="4A1C70"/>
                </a:solidFill>
              </a:defRPr>
            </a:pPr>
            <a:r>
              <a:t>★</a:t>
            </a:r>
          </a:p>
        </p:txBody>
      </p:sp>
      <p:sp>
        <p:nvSpPr>
          <p:cNvPr id="4" name="TextBox 3"/>
          <p:cNvSpPr txBox="1"/>
          <p:nvPr/>
        </p:nvSpPr>
        <p:spPr>
          <a:xfrm>
            <a:off x="914400" y="868680"/>
            <a:ext cx="10362895" cy="365760"/>
          </a:xfrm>
          <a:prstGeom prst="rect">
            <a:avLst/>
          </a:prstGeom>
          <a:noFill/>
        </p:spPr>
        <p:txBody>
          <a:bodyPr wrap="none">
            <a:spAutoFit/>
          </a:bodyPr>
          <a:lstStyle/>
          <a:p>
            <a:pPr algn="ctr">
              <a:defRPr sz="1200" b="1">
                <a:solidFill>
                  <a:srgbClr val="4A1C70"/>
                </a:solidFill>
                <a:latin typeface="Segoe UI"/>
              </a:defRPr>
            </a:pPr>
            <a:r>
              <a:t>RATING ACCORDING TO THE SEVEN LITERARY STANDARDS</a:t>
            </a:r>
          </a:p>
        </p:txBody>
      </p:sp>
      <p:graphicFrame>
        <p:nvGraphicFramePr>
          <p:cNvPr id="5" name="Table 4"/>
          <p:cNvGraphicFramePr>
            <a:graphicFrameLocks noGrp="1"/>
          </p:cNvGraphicFramePr>
          <p:nvPr/>
        </p:nvGraphicFramePr>
        <p:xfrm>
          <a:off x="777240" y="1325880"/>
          <a:ext cx="10637215" cy="4937760"/>
        </p:xfrm>
        <a:graphic>
          <a:graphicData uri="http://schemas.openxmlformats.org/drawingml/2006/table">
            <a:tbl>
              <a:tblPr firstRow="1" bandRow="1">
                <a:tableStyleId>{5C22544A-7EE6-4342-B048-85BDC9FD1C3A}</a:tableStyleId>
              </a:tblPr>
              <a:tblGrid>
                <a:gridCol w="2194560"/>
                <a:gridCol w="1463040"/>
                <a:gridCol w="6979615"/>
              </a:tblGrid>
              <a:tr h="617220">
                <a:tc>
                  <a:txBody>
                    <a:bodyPr/>
                    <a:lstStyle/>
                    <a:p>
                      <a:pPr algn="l">
                        <a:defRPr sz="1100" b="1">
                          <a:solidFill>
                            <a:srgbClr val="FFFFFF"/>
                          </a:solidFill>
                          <a:latin typeface="Segoe UI"/>
                        </a:defRPr>
                      </a:pPr>
                      <a:r>
                        <a:t>S T A N D A R D</a:t>
                      </a:r>
                    </a:p>
                  </a:txBody>
                  <a:tcPr>
                    <a:solidFill>
                      <a:srgbClr val="3B1C54"/>
                    </a:solidFill>
                  </a:tcPr>
                </a:tc>
                <a:tc>
                  <a:txBody>
                    <a:bodyPr/>
                    <a:lstStyle/>
                    <a:p>
                      <a:pPr algn="ctr">
                        <a:defRPr sz="1100" b="1">
                          <a:solidFill>
                            <a:srgbClr val="FFFFFF"/>
                          </a:solidFill>
                          <a:latin typeface="Segoe UI"/>
                        </a:defRPr>
                      </a:pPr>
                      <a:r>
                        <a:t>R A T I N G</a:t>
                      </a:r>
                    </a:p>
                  </a:txBody>
                  <a:tcPr>
                    <a:solidFill>
                      <a:srgbClr val="3B1C54"/>
                    </a:solidFill>
                  </a:tcPr>
                </a:tc>
                <a:tc>
                  <a:txBody>
                    <a:bodyPr/>
                    <a:lstStyle/>
                    <a:p>
                      <a:pPr algn="l">
                        <a:defRPr sz="1100" b="1">
                          <a:solidFill>
                            <a:srgbClr val="FFFFFF"/>
                          </a:solidFill>
                          <a:latin typeface="Segoe UI"/>
                        </a:defRPr>
                      </a:pPr>
                      <a:r>
                        <a:t>E V A L U A T I O N</a:t>
                      </a:r>
                    </a:p>
                  </a:txBody>
                  <a:tcPr>
                    <a:solidFill>
                      <a:srgbClr val="3B1C54"/>
                    </a:solidFill>
                  </a:tcPr>
                </a:tc>
              </a:tr>
              <a:tr h="617220">
                <a:tc>
                  <a:txBody>
                    <a:bodyPr/>
                    <a:lstStyle/>
                    <a:p>
                      <a:pPr>
                        <a:defRPr sz="1000" b="1">
                          <a:solidFill>
                            <a:srgbClr val="4A1C70"/>
                          </a:solidFill>
                          <a:latin typeface="Segoe UI"/>
                        </a:defRPr>
                      </a:pPr>
                      <a:r>
                        <a:t>Artistry</a:t>
                      </a:r>
                    </a:p>
                  </a:txBody>
                  <a:tcPr>
                    <a:solidFill>
                      <a:srgbClr val="FFFFFF"/>
                    </a:solidFill>
                  </a:tcPr>
                </a:tc>
                <a:tc>
                  <a:txBody>
                    <a:bodyPr/>
                    <a:lstStyle/>
                    <a:p>
                      <a:pPr algn="ctr">
                        <a:defRPr sz="1000" b="1">
                          <a:solidFill>
                            <a:srgbClr val="881E44"/>
                          </a:solidFill>
                          <a:latin typeface="Segoe UI"/>
                        </a:defRPr>
                      </a:pPr>
                      <a:r>
                        <a:t>10/10</a:t>
                      </a:r>
                    </a:p>
                  </a:txBody>
                  <a:tcPr>
                    <a:solidFill>
                      <a:srgbClr val="FFFFFF"/>
                    </a:solidFill>
                  </a:tcPr>
                </a:tc>
                <a:tc>
                  <a:txBody>
                    <a:bodyPr/>
                    <a:lstStyle/>
                    <a:p>
                      <a:pPr>
                        <a:defRPr sz="1000">
                          <a:solidFill>
                            <a:srgbClr val="221E28"/>
                          </a:solidFill>
                          <a:latin typeface="Segoe UI"/>
                        </a:defRPr>
                      </a:pPr>
                      <a:r>
                        <a:t>Masterful epistolary design; dual-voiced transatlantic counterpoint between Georgia and West Africa.</a:t>
                      </a:r>
                    </a:p>
                  </a:txBody>
                  <a:tcPr>
                    <a:solidFill>
                      <a:srgbClr val="FFFFFF"/>
                    </a:solidFill>
                  </a:tcPr>
                </a:tc>
              </a:tr>
              <a:tr h="617220">
                <a:tc>
                  <a:txBody>
                    <a:bodyPr/>
                    <a:lstStyle/>
                    <a:p>
                      <a:pPr>
                        <a:defRPr sz="1000" b="1">
                          <a:solidFill>
                            <a:srgbClr val="4A1C70"/>
                          </a:solidFill>
                          <a:latin typeface="Segoe UI"/>
                        </a:defRPr>
                      </a:pPr>
                      <a:r>
                        <a:t>Intellectual Value</a:t>
                      </a:r>
                    </a:p>
                  </a:txBody>
                  <a:tcPr>
                    <a:solidFill>
                      <a:srgbClr val="F6F3EE"/>
                    </a:solidFill>
                  </a:tcPr>
                </a:tc>
                <a:tc>
                  <a:txBody>
                    <a:bodyPr/>
                    <a:lstStyle/>
                    <a:p>
                      <a:pPr algn="ctr">
                        <a:defRPr sz="1000" b="1">
                          <a:solidFill>
                            <a:srgbClr val="881E44"/>
                          </a:solidFill>
                          <a:latin typeface="Segoe UI"/>
                        </a:defRPr>
                      </a:pPr>
                      <a:r>
                        <a:t>10/10</a:t>
                      </a:r>
                    </a:p>
                  </a:txBody>
                  <a:tcPr>
                    <a:solidFill>
                      <a:srgbClr val="F6F3EE"/>
                    </a:solidFill>
                  </a:tcPr>
                </a:tc>
                <a:tc>
                  <a:txBody>
                    <a:bodyPr/>
                    <a:lstStyle/>
                    <a:p>
                      <a:pPr>
                        <a:defRPr sz="1000">
                          <a:solidFill>
                            <a:srgbClr val="221E28"/>
                          </a:solidFill>
                          <a:latin typeface="Segoe UI"/>
                        </a:defRPr>
                      </a:pPr>
                      <a:r>
                        <a:t>Unflinching critique of patriarchal domestic violence, religious dogma, racism, and colonial extraction.</a:t>
                      </a:r>
                    </a:p>
                  </a:txBody>
                  <a:tcPr>
                    <a:solidFill>
                      <a:srgbClr val="F6F3EE"/>
                    </a:solidFill>
                  </a:tcPr>
                </a:tc>
              </a:tr>
              <a:tr h="617220">
                <a:tc>
                  <a:txBody>
                    <a:bodyPr/>
                    <a:lstStyle/>
                    <a:p>
                      <a:pPr>
                        <a:defRPr sz="1000" b="1">
                          <a:solidFill>
                            <a:srgbClr val="4A1C70"/>
                          </a:solidFill>
                          <a:latin typeface="Segoe UI"/>
                        </a:defRPr>
                      </a:pPr>
                      <a:r>
                        <a:t>Suggestiveness</a:t>
                      </a:r>
                    </a:p>
                  </a:txBody>
                  <a:tcPr>
                    <a:solidFill>
                      <a:srgbClr val="FFFFFF"/>
                    </a:solidFill>
                  </a:tcPr>
                </a:tc>
                <a:tc>
                  <a:txBody>
                    <a:bodyPr/>
                    <a:lstStyle/>
                    <a:p>
                      <a:pPr algn="ctr">
                        <a:defRPr sz="1000" b="1">
                          <a:solidFill>
                            <a:srgbClr val="881E44"/>
                          </a:solidFill>
                          <a:latin typeface="Segoe UI"/>
                        </a:defRPr>
                      </a:pPr>
                      <a:r>
                        <a:t>10/10</a:t>
                      </a:r>
                    </a:p>
                  </a:txBody>
                  <a:tcPr>
                    <a:solidFill>
                      <a:srgbClr val="FFFFFF"/>
                    </a:solidFill>
                  </a:tcPr>
                </a:tc>
                <a:tc>
                  <a:txBody>
                    <a:bodyPr/>
                    <a:lstStyle/>
                    <a:p>
                      <a:pPr>
                        <a:defRPr sz="1000">
                          <a:solidFill>
                            <a:srgbClr val="221E28"/>
                          </a:solidFill>
                          <a:latin typeface="Segoe UI"/>
                        </a:defRPr>
                      </a:pPr>
                      <a:r>
                        <a:t>Multi-layered symbolism: the sacred roofleaf, quilt patterns, custom pants, and the color purple.</a:t>
                      </a:r>
                    </a:p>
                  </a:txBody>
                  <a:tcPr>
                    <a:solidFill>
                      <a:srgbClr val="FFFFFF"/>
                    </a:solidFill>
                  </a:tcPr>
                </a:tc>
              </a:tr>
              <a:tr h="617220">
                <a:tc>
                  <a:txBody>
                    <a:bodyPr/>
                    <a:lstStyle/>
                    <a:p>
                      <a:pPr>
                        <a:defRPr sz="1000" b="1">
                          <a:solidFill>
                            <a:srgbClr val="4A1C70"/>
                          </a:solidFill>
                          <a:latin typeface="Segoe UI"/>
                        </a:defRPr>
                      </a:pPr>
                      <a:r>
                        <a:t>Spiritual Value</a:t>
                      </a:r>
                    </a:p>
                  </a:txBody>
                  <a:tcPr>
                    <a:solidFill>
                      <a:srgbClr val="F6F3EE"/>
                    </a:solidFill>
                  </a:tcPr>
                </a:tc>
                <a:tc>
                  <a:txBody>
                    <a:bodyPr/>
                    <a:lstStyle/>
                    <a:p>
                      <a:pPr algn="ctr">
                        <a:defRPr sz="1000" b="1">
                          <a:solidFill>
                            <a:srgbClr val="881E44"/>
                          </a:solidFill>
                          <a:latin typeface="Segoe UI"/>
                        </a:defRPr>
                      </a:pPr>
                      <a:r>
                        <a:t>10/10</a:t>
                      </a:r>
                    </a:p>
                  </a:txBody>
                  <a:tcPr>
                    <a:solidFill>
                      <a:srgbClr val="F6F3EE"/>
                    </a:solidFill>
                  </a:tcPr>
                </a:tc>
                <a:tc>
                  <a:txBody>
                    <a:bodyPr/>
                    <a:lstStyle/>
                    <a:p>
                      <a:pPr>
                        <a:defRPr sz="1000">
                          <a:solidFill>
                            <a:srgbClr val="221E28"/>
                          </a:solidFill>
                          <a:latin typeface="Segoe UI"/>
                        </a:defRPr>
                      </a:pPr>
                      <a:r>
                        <a:t>Liberation from patriarchal religious dogma toward immanent, life-affirming Panentheism and self-worth.</a:t>
                      </a:r>
                    </a:p>
                  </a:txBody>
                  <a:tcPr>
                    <a:solidFill>
                      <a:srgbClr val="F6F3EE"/>
                    </a:solidFill>
                  </a:tcPr>
                </a:tc>
              </a:tr>
              <a:tr h="617220">
                <a:tc>
                  <a:txBody>
                    <a:bodyPr/>
                    <a:lstStyle/>
                    <a:p>
                      <a:pPr>
                        <a:defRPr sz="1000" b="1">
                          <a:solidFill>
                            <a:srgbClr val="4A1C70"/>
                          </a:solidFill>
                          <a:latin typeface="Segoe UI"/>
                        </a:defRPr>
                      </a:pPr>
                      <a:r>
                        <a:t>Permanence</a:t>
                      </a:r>
                    </a:p>
                  </a:txBody>
                  <a:tcPr>
                    <a:solidFill>
                      <a:srgbClr val="FFFFFF"/>
                    </a:solidFill>
                  </a:tcPr>
                </a:tc>
                <a:tc>
                  <a:txBody>
                    <a:bodyPr/>
                    <a:lstStyle/>
                    <a:p>
                      <a:pPr algn="ctr">
                        <a:defRPr sz="1000" b="1">
                          <a:solidFill>
                            <a:srgbClr val="881E44"/>
                          </a:solidFill>
                          <a:latin typeface="Segoe UI"/>
                        </a:defRPr>
                      </a:pPr>
                      <a:r>
                        <a:t>10/10</a:t>
                      </a:r>
                    </a:p>
                  </a:txBody>
                  <a:tcPr>
                    <a:solidFill>
                      <a:srgbClr val="FFFFFF"/>
                    </a:solidFill>
                  </a:tcPr>
                </a:tc>
                <a:tc>
                  <a:txBody>
                    <a:bodyPr/>
                    <a:lstStyle/>
                    <a:p>
                      <a:pPr>
                        <a:defRPr sz="1000">
                          <a:solidFill>
                            <a:srgbClr val="221E28"/>
                          </a:solidFill>
                          <a:latin typeface="Segoe UI"/>
                        </a:defRPr>
                      </a:pPr>
                      <a:r>
                        <a:t>Translated into over 25 languages; adapted into films and Tony-winning Broadway plays; permanent classic.</a:t>
                      </a:r>
                    </a:p>
                  </a:txBody>
                  <a:tcPr>
                    <a:solidFill>
                      <a:srgbClr val="FFFFFF"/>
                    </a:solidFill>
                  </a:tcPr>
                </a:tc>
              </a:tr>
              <a:tr h="617220">
                <a:tc>
                  <a:txBody>
                    <a:bodyPr/>
                    <a:lstStyle/>
                    <a:p>
                      <a:pPr>
                        <a:defRPr sz="1000" b="1">
                          <a:solidFill>
                            <a:srgbClr val="4A1C70"/>
                          </a:solidFill>
                          <a:latin typeface="Segoe UI"/>
                        </a:defRPr>
                      </a:pPr>
                      <a:r>
                        <a:t>Universality</a:t>
                      </a:r>
                    </a:p>
                  </a:txBody>
                  <a:tcPr>
                    <a:solidFill>
                      <a:srgbClr val="F6F3EE"/>
                    </a:solidFill>
                  </a:tcPr>
                </a:tc>
                <a:tc>
                  <a:txBody>
                    <a:bodyPr/>
                    <a:lstStyle/>
                    <a:p>
                      <a:pPr algn="ctr">
                        <a:defRPr sz="1000" b="1">
                          <a:solidFill>
                            <a:srgbClr val="881E44"/>
                          </a:solidFill>
                          <a:latin typeface="Segoe UI"/>
                        </a:defRPr>
                      </a:pPr>
                      <a:r>
                        <a:t>10/10</a:t>
                      </a:r>
                    </a:p>
                  </a:txBody>
                  <a:tcPr>
                    <a:solidFill>
                      <a:srgbClr val="F6F3EE"/>
                    </a:solidFill>
                  </a:tcPr>
                </a:tc>
                <a:tc>
                  <a:txBody>
                    <a:bodyPr/>
                    <a:lstStyle/>
                    <a:p>
                      <a:pPr>
                        <a:defRPr sz="1000">
                          <a:solidFill>
                            <a:srgbClr val="221E28"/>
                          </a:solidFill>
                          <a:latin typeface="Segoe UI"/>
                        </a:defRPr>
                      </a:pPr>
                      <a:r>
                        <a:t>Speaks universally to human resilience, the reclamation of voice, sisterhood, and the triumph of the soul.</a:t>
                      </a:r>
                    </a:p>
                  </a:txBody>
                  <a:tcPr>
                    <a:solidFill>
                      <a:srgbClr val="F6F3EE"/>
                    </a:solidFill>
                  </a:tcPr>
                </a:tc>
              </a:tr>
              <a:tr h="617220">
                <a:tc>
                  <a:txBody>
                    <a:bodyPr/>
                    <a:lstStyle/>
                    <a:p>
                      <a:pPr>
                        <a:defRPr sz="1000" b="1">
                          <a:solidFill>
                            <a:srgbClr val="4A1C70"/>
                          </a:solidFill>
                          <a:latin typeface="Segoe UI"/>
                        </a:defRPr>
                      </a:pPr>
                      <a:r>
                        <a:t>Style</a:t>
                      </a:r>
                    </a:p>
                  </a:txBody>
                  <a:tcPr>
                    <a:solidFill>
                      <a:srgbClr val="FFFFFF"/>
                    </a:solidFill>
                  </a:tcPr>
                </a:tc>
                <a:tc>
                  <a:txBody>
                    <a:bodyPr/>
                    <a:lstStyle/>
                    <a:p>
                      <a:pPr algn="ctr">
                        <a:defRPr sz="1000" b="1">
                          <a:solidFill>
                            <a:srgbClr val="881E44"/>
                          </a:solidFill>
                          <a:latin typeface="Segoe UI"/>
                        </a:defRPr>
                      </a:pPr>
                      <a:r>
                        <a:t>10/10</a:t>
                      </a:r>
                    </a:p>
                  </a:txBody>
                  <a:tcPr>
                    <a:solidFill>
                      <a:srgbClr val="FFFFFF"/>
                    </a:solidFill>
                  </a:tcPr>
                </a:tc>
                <a:tc>
                  <a:txBody>
                    <a:bodyPr/>
                    <a:lstStyle/>
                    <a:p>
                      <a:pPr>
                        <a:defRPr sz="1000">
                          <a:solidFill>
                            <a:srgbClr val="221E28"/>
                          </a:solidFill>
                          <a:latin typeface="Segoe UI"/>
                        </a:defRPr>
                      </a:pPr>
                      <a:r>
                        <a:t>Revolutionary elevation of Black folk vernacular (AAVE) into poetic, lyrical, unmediated epistolary literature.</a:t>
                      </a:r>
                    </a:p>
                  </a:txBody>
                  <a:tcP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80990" y="365760"/>
            <a:ext cx="1828800" cy="548640"/>
          </a:xfrm>
          <a:prstGeom prst="rect">
            <a:avLst/>
          </a:prstGeom>
          <a:noFill/>
        </p:spPr>
        <p:txBody>
          <a:bodyPr wrap="none">
            <a:spAutoFit/>
          </a:bodyPr>
          <a:lstStyle/>
          <a:p>
            <a:pPr algn="ctr">
              <a:defRPr sz="2800">
                <a:solidFill>
                  <a:srgbClr val="4A1C70"/>
                </a:solidFill>
              </a:defRPr>
            </a:pPr>
            <a:r>
              <a:t>★</a:t>
            </a:r>
          </a:p>
        </p:txBody>
      </p:sp>
      <p:sp>
        <p:nvSpPr>
          <p:cNvPr id="4" name="TextBox 3"/>
          <p:cNvSpPr txBox="1"/>
          <p:nvPr/>
        </p:nvSpPr>
        <p:spPr>
          <a:xfrm>
            <a:off x="914400" y="868680"/>
            <a:ext cx="10362895" cy="365760"/>
          </a:xfrm>
          <a:prstGeom prst="rect">
            <a:avLst/>
          </a:prstGeom>
          <a:noFill/>
        </p:spPr>
        <p:txBody>
          <a:bodyPr wrap="none">
            <a:spAutoFit/>
          </a:bodyPr>
          <a:lstStyle/>
          <a:p>
            <a:pPr algn="ctr">
              <a:defRPr sz="1200" b="1">
                <a:solidFill>
                  <a:srgbClr val="4A1C70"/>
                </a:solidFill>
                <a:latin typeface="Segoe UI"/>
              </a:defRPr>
            </a:pPr>
            <a:r>
              <a:t>LITERARY STANDARDS OF LITERARY AWARDS OR PRIZES</a:t>
            </a:r>
          </a:p>
        </p:txBody>
      </p:sp>
      <p:sp>
        <p:nvSpPr>
          <p:cNvPr id="5" name="Rounded Rectangle 4"/>
          <p:cNvSpPr/>
          <p:nvPr/>
        </p:nvSpPr>
        <p:spPr>
          <a:xfrm>
            <a:off x="777240" y="1371600"/>
            <a:ext cx="3456432" cy="484632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54480"/>
            <a:ext cx="3090672" cy="4389120"/>
          </a:xfrm>
          <a:prstGeom prst="rect">
            <a:avLst/>
          </a:prstGeom>
          <a:noFill/>
        </p:spPr>
        <p:txBody>
          <a:bodyPr wrap="square">
            <a:spAutoFit/>
          </a:bodyPr>
          <a:lstStyle/>
          <a:p>
            <a:pPr>
              <a:defRPr sz="1600" b="1">
                <a:solidFill>
                  <a:srgbClr val="4A1C70"/>
                </a:solidFill>
                <a:latin typeface="Georgia"/>
              </a:defRPr>
            </a:pPr>
            <a:r>
              <a:t>The Pulitzer Prize for Fiction</a:t>
            </a:r>
          </a:p>
          <a:p>
            <a:pPr>
              <a:spcBef>
                <a:spcPts val="300"/>
              </a:spcBef>
              <a:defRPr sz="1100" i="1">
                <a:solidFill>
                  <a:srgbClr val="881E44"/>
                </a:solidFill>
                <a:latin typeface="Segoe UI"/>
              </a:defRPr>
            </a:pPr>
            <a:r>
              <a:t>Won in 1983</a:t>
            </a:r>
          </a:p>
          <a:p>
            <a:pPr>
              <a:lnSpc>
                <a:spcPct val="135000"/>
              </a:lnSpc>
              <a:spcBef>
                <a:spcPts val="1000"/>
              </a:spcBef>
              <a:defRPr sz="1000">
                <a:solidFill>
                  <a:srgbClr val="221E28"/>
                </a:solidFill>
                <a:latin typeface="Segoe UI"/>
              </a:defRPr>
            </a:pPr>
            <a:r>
              <a:t>Alice Walker made history as the first African-American woman to win the Pulitzer Prize for Fiction. The Pulitzer board commended the novel for its innovative epistolary technique, profound portrayal of the human spirit under oppression, and unyielding defense of human dignity.</a:t>
            </a:r>
          </a:p>
        </p:txBody>
      </p:sp>
      <p:sp>
        <p:nvSpPr>
          <p:cNvPr id="7" name="Rounded Rectangle 6"/>
          <p:cNvSpPr/>
          <p:nvPr/>
        </p:nvSpPr>
        <p:spPr>
          <a:xfrm>
            <a:off x="4416552" y="1371600"/>
            <a:ext cx="3456432" cy="484632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554480"/>
            <a:ext cx="3090672" cy="4389120"/>
          </a:xfrm>
          <a:prstGeom prst="rect">
            <a:avLst/>
          </a:prstGeom>
          <a:noFill/>
        </p:spPr>
        <p:txBody>
          <a:bodyPr wrap="square">
            <a:spAutoFit/>
          </a:bodyPr>
          <a:lstStyle/>
          <a:p>
            <a:pPr>
              <a:defRPr sz="1600" b="1">
                <a:solidFill>
                  <a:srgbClr val="4A1C70"/>
                </a:solidFill>
                <a:latin typeface="Georgia"/>
              </a:defRPr>
            </a:pPr>
            <a:r>
              <a:t>The National Book Award</a:t>
            </a:r>
          </a:p>
          <a:p>
            <a:pPr>
              <a:spcBef>
                <a:spcPts val="300"/>
              </a:spcBef>
              <a:defRPr sz="1100" i="1">
                <a:solidFill>
                  <a:srgbClr val="881E44"/>
                </a:solidFill>
                <a:latin typeface="Segoe UI"/>
              </a:defRPr>
            </a:pPr>
            <a:r>
              <a:t>Won in 1983</a:t>
            </a:r>
          </a:p>
          <a:p>
            <a:pPr>
              <a:lnSpc>
                <a:spcPct val="135000"/>
              </a:lnSpc>
              <a:spcBef>
                <a:spcPts val="1000"/>
              </a:spcBef>
              <a:defRPr sz="1000">
                <a:solidFill>
                  <a:srgbClr val="221E28"/>
                </a:solidFill>
                <a:latin typeface="Segoe UI"/>
              </a:defRPr>
            </a:pPr>
            <a:r>
              <a:t>Awarded the 1983 National Book Award for Fiction (shared with Alice Munro), confirming unanimous consensus among major American literary critics. The jury celebrated Walker's lyrical command of Black English vernacular and fearless psychological realism.</a:t>
            </a:r>
          </a:p>
        </p:txBody>
      </p:sp>
      <p:sp>
        <p:nvSpPr>
          <p:cNvPr id="9" name="Rounded Rectangle 8"/>
          <p:cNvSpPr/>
          <p:nvPr/>
        </p:nvSpPr>
        <p:spPr>
          <a:xfrm>
            <a:off x="8055864" y="1371600"/>
            <a:ext cx="3456432" cy="484632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8744" y="1554480"/>
            <a:ext cx="3090672" cy="4389120"/>
          </a:xfrm>
          <a:prstGeom prst="rect">
            <a:avLst/>
          </a:prstGeom>
          <a:noFill/>
        </p:spPr>
        <p:txBody>
          <a:bodyPr wrap="square">
            <a:spAutoFit/>
          </a:bodyPr>
          <a:lstStyle/>
          <a:p>
            <a:pPr>
              <a:defRPr sz="1600" b="1">
                <a:solidFill>
                  <a:srgbClr val="4A1C70"/>
                </a:solidFill>
                <a:latin typeface="Georgia"/>
              </a:defRPr>
            </a:pPr>
            <a:r>
              <a:t>Enduring Media Adaptations</a:t>
            </a:r>
          </a:p>
          <a:p>
            <a:pPr>
              <a:spcBef>
                <a:spcPts val="300"/>
              </a:spcBef>
              <a:defRPr sz="1100" i="1">
                <a:solidFill>
                  <a:srgbClr val="881E44"/>
                </a:solidFill>
                <a:latin typeface="Segoe UI"/>
              </a:defRPr>
            </a:pPr>
            <a:r>
              <a:t>Multi-Generational Canon</a:t>
            </a:r>
          </a:p>
          <a:p>
            <a:pPr>
              <a:lnSpc>
                <a:spcPct val="135000"/>
              </a:lnSpc>
              <a:spcBef>
                <a:spcPts val="1000"/>
              </a:spcBef>
              <a:defRPr sz="1000">
                <a:solidFill>
                  <a:srgbClr val="221E28"/>
                </a:solidFill>
                <a:latin typeface="Segoe UI"/>
              </a:defRPr>
            </a:pPr>
            <a:r>
              <a:t>Nominated for 11 Academy Awards in Steven Spielberg's 1985 cinematic masterpiece; won multiple Tony Awards for the 2005 original and 2015 Broadway revival; adapted into a 2023 musical film, verifying its permanent status as a global literary touchstone.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320040"/>
            <a:ext cx="3962095" cy="548640"/>
          </a:xfrm>
          <a:prstGeom prst="rect">
            <a:avLst/>
          </a:prstGeom>
          <a:noFill/>
        </p:spPr>
        <p:txBody>
          <a:bodyPr wrap="none">
            <a:spAutoFit/>
          </a:bodyPr>
          <a:lstStyle/>
          <a:p>
            <a:pPr algn="ctr">
              <a:defRPr sz="2400">
                <a:solidFill>
                  <a:srgbClr val="881E44"/>
                </a:solidFill>
              </a:defRPr>
            </a:pPr>
            <a:r>
              <a:t>♠  ♥  ♣  ♦</a:t>
            </a:r>
          </a:p>
        </p:txBody>
      </p:sp>
      <p:sp>
        <p:nvSpPr>
          <p:cNvPr id="4" name="TextBox 3"/>
          <p:cNvSpPr txBox="1"/>
          <p:nvPr/>
        </p:nvSpPr>
        <p:spPr>
          <a:xfrm>
            <a:off x="777240" y="868680"/>
            <a:ext cx="10637215" cy="411480"/>
          </a:xfrm>
          <a:prstGeom prst="rect">
            <a:avLst/>
          </a:prstGeom>
          <a:noFill/>
        </p:spPr>
        <p:txBody>
          <a:bodyPr wrap="none">
            <a:spAutoFit/>
          </a:bodyPr>
          <a:lstStyle/>
          <a:p>
            <a:pPr algn="ctr">
              <a:defRPr sz="1200" b="1">
                <a:solidFill>
                  <a:srgbClr val="4A1C70"/>
                </a:solidFill>
                <a:latin typeface="Segoe UI"/>
              </a:defRPr>
            </a:pPr>
            <a:r>
              <a:t>THE COLOR PURPLE IN RELATION TO MODERN TECHNOLOGY (1/2)</a:t>
            </a:r>
          </a:p>
        </p:txBody>
      </p:sp>
      <p:graphicFrame>
        <p:nvGraphicFramePr>
          <p:cNvPr id="5" name="Table 4"/>
          <p:cNvGraphicFramePr>
            <a:graphicFrameLocks noGrp="1"/>
          </p:cNvGraphicFramePr>
          <p:nvPr/>
        </p:nvGraphicFramePr>
        <p:xfrm>
          <a:off x="777240" y="1371600"/>
          <a:ext cx="10637215" cy="4937760"/>
        </p:xfrm>
        <a:graphic>
          <a:graphicData uri="http://schemas.openxmlformats.org/drawingml/2006/table">
            <a:tbl>
              <a:tblPr firstRow="1" bandRow="1">
                <a:tableStyleId>{5C22544A-7EE6-4342-B048-85BDC9FD1C3A}</a:tableStyleId>
              </a:tblPr>
              <a:tblGrid>
                <a:gridCol w="2926080"/>
                <a:gridCol w="7711135"/>
              </a:tblGrid>
              <a:tr h="1234440">
                <a:tc>
                  <a:txBody>
                    <a:bodyPr/>
                    <a:lstStyle/>
                    <a:p>
                      <a:pPr>
                        <a:defRPr sz="1000" b="1">
                          <a:solidFill>
                            <a:srgbClr val="FFFFFF"/>
                          </a:solidFill>
                          <a:latin typeface="Segoe UI"/>
                        </a:defRPr>
                      </a:pPr>
                      <a:r>
                        <a:t>C O N C E P T</a:t>
                      </a:r>
                      <a:br/>
                      <a:r>
                        <a:t>M O D E R N   T E C H N O L O G Y</a:t>
                      </a:r>
                    </a:p>
                  </a:txBody>
                  <a:tcPr>
                    <a:solidFill>
                      <a:srgbClr val="3B1C54"/>
                    </a:solidFill>
                  </a:tcPr>
                </a:tc>
                <a:tc>
                  <a:txBody>
                    <a:bodyPr/>
                    <a:lstStyle/>
                    <a:p>
                      <a:pPr>
                        <a:defRPr sz="1000" b="1">
                          <a:solidFill>
                            <a:srgbClr val="FFFFFF"/>
                          </a:solidFill>
                          <a:latin typeface="Segoe UI"/>
                        </a:defRPr>
                      </a:pPr>
                      <a:r>
                        <a:t>P A R A L L E L</a:t>
                      </a:r>
                      <a:br/>
                      <a:r>
                        <a:t>T H E   C O L O R   P U R P L E</a:t>
                      </a:r>
                    </a:p>
                  </a:txBody>
                  <a:tcPr>
                    <a:solidFill>
                      <a:srgbClr val="3B1C54"/>
                    </a:solidFill>
                  </a:tcPr>
                </a:tc>
              </a:tr>
              <a:tr h="1234440">
                <a:tc>
                  <a:txBody>
                    <a:bodyPr/>
                    <a:lstStyle/>
                    <a:p>
                      <a:pPr>
                        <a:defRPr sz="1000" b="1">
                          <a:solidFill>
                            <a:srgbClr val="4A1C70"/>
                          </a:solidFill>
                          <a:latin typeface="Segoe UI"/>
                        </a:defRPr>
                      </a:pPr>
                      <a:r>
                        <a:t>CIA Triad &amp; Man-in-the-Middle (MitM) Interception</a:t>
                      </a:r>
                    </a:p>
                  </a:txBody>
                  <a:tcPr>
                    <a:solidFill>
                      <a:srgbClr val="FFFFFF"/>
                    </a:solidFill>
                  </a:tcPr>
                </a:tc>
                <a:tc>
                  <a:txBody>
                    <a:bodyPr/>
                    <a:lstStyle/>
                    <a:p>
                      <a:pPr>
                        <a:lnSpc>
                          <a:spcPct val="130000"/>
                        </a:lnSpc>
                        <a:defRPr sz="950">
                          <a:solidFill>
                            <a:srgbClr val="221E28"/>
                          </a:solidFill>
                          <a:latin typeface="Segoe UI"/>
                        </a:defRPr>
                      </a:pPr>
                      <a:r>
                        <a:t>NIST identifies Confidentiality, Integrity, and Availability as the core CIA triad. Albert executes a classic MitM attack: intercepting incoming letters from Nettie and dropping them into a locked offline cache (trunk). By withholding availability, he simulates an endpoint failure, leaving both sisters in isolation.</a:t>
                      </a:r>
                    </a:p>
                  </a:txBody>
                  <a:tcPr>
                    <a:solidFill>
                      <a:srgbClr val="FFFFFF"/>
                    </a:solidFill>
                  </a:tcPr>
                </a:tc>
              </a:tr>
              <a:tr h="1234440">
                <a:tc>
                  <a:txBody>
                    <a:bodyPr/>
                    <a:lstStyle/>
                    <a:p>
                      <a:pPr>
                        <a:defRPr sz="1000" b="1">
                          <a:solidFill>
                            <a:srgbClr val="4A1C70"/>
                          </a:solidFill>
                          <a:latin typeface="Segoe UI"/>
                        </a:defRPr>
                      </a:pPr>
                      <a:r>
                        <a:t>Asynchronous Messaging &amp; Missing ACKs</a:t>
                      </a:r>
                    </a:p>
                  </a:txBody>
                  <a:tcPr>
                    <a:solidFill>
                      <a:srgbClr val="F6F3EE"/>
                    </a:solidFill>
                  </a:tcPr>
                </a:tc>
                <a:tc>
                  <a:txBody>
                    <a:bodyPr/>
                    <a:lstStyle/>
                    <a:p>
                      <a:pPr>
                        <a:lnSpc>
                          <a:spcPct val="130000"/>
                        </a:lnSpc>
                        <a:defRPr sz="950">
                          <a:solidFill>
                            <a:srgbClr val="221E28"/>
                          </a:solidFill>
                          <a:latin typeface="Segoe UI"/>
                        </a:defRPr>
                      </a:pPr>
                      <a:r>
                        <a:t>Celie sends messages to 'God' and Nettie without confirmation of receipt (ACK), functioning as high-latency store-and-forward transmission. The recovery of the letters mirrors flushing an unacknowledged message queue to restore end-to-end data synchronization.</a:t>
                      </a:r>
                    </a:p>
                  </a:txBody>
                  <a:tcPr>
                    <a:solidFill>
                      <a:srgbClr val="F6F3EE"/>
                    </a:solidFill>
                  </a:tcPr>
                </a:tc>
              </a:tr>
              <a:tr h="1234440">
                <a:tc>
                  <a:txBody>
                    <a:bodyPr/>
                    <a:lstStyle/>
                    <a:p>
                      <a:pPr>
                        <a:defRPr sz="1000" b="1">
                          <a:solidFill>
                            <a:srgbClr val="4A1C70"/>
                          </a:solidFill>
                          <a:latin typeface="Segoe UI"/>
                        </a:defRPr>
                      </a:pPr>
                      <a:r>
                        <a:t>Data Provenance &amp; Metadata Rectification</a:t>
                      </a:r>
                    </a:p>
                  </a:txBody>
                  <a:tcPr>
                    <a:solidFill>
                      <a:srgbClr val="FFFFFF"/>
                    </a:solidFill>
                  </a:tcPr>
                </a:tc>
                <a:tc>
                  <a:txBody>
                    <a:bodyPr/>
                    <a:lstStyle/>
                    <a:p>
                      <a:pPr>
                        <a:lnSpc>
                          <a:spcPct val="130000"/>
                        </a:lnSpc>
                        <a:defRPr sz="950">
                          <a:solidFill>
                            <a:srgbClr val="221E28"/>
                          </a:solidFill>
                          <a:latin typeface="Segoe UI"/>
                        </a:defRPr>
                      </a:pPr>
                      <a:r>
                        <a:t>Celie's identity is distorted by corrupted provenance (believing Alphonso is her biological father). Samuel's revelation ('Pa is not our pa!') cleanses corrupted system metadata, restoring authentic lineage, removing biological shame, and reclaiming property rights.</a:t>
                      </a:r>
                    </a:p>
                  </a:txBody>
                  <a:tcP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320040"/>
            <a:ext cx="3962095" cy="548640"/>
          </a:xfrm>
          <a:prstGeom prst="rect">
            <a:avLst/>
          </a:prstGeom>
          <a:noFill/>
        </p:spPr>
        <p:txBody>
          <a:bodyPr wrap="none">
            <a:spAutoFit/>
          </a:bodyPr>
          <a:lstStyle/>
          <a:p>
            <a:pPr algn="ctr">
              <a:defRPr sz="2400">
                <a:solidFill>
                  <a:srgbClr val="881E44"/>
                </a:solidFill>
              </a:defRPr>
            </a:pPr>
            <a:r>
              <a:t>♠  ♥  ♣  ♦</a:t>
            </a:r>
          </a:p>
        </p:txBody>
      </p:sp>
      <p:sp>
        <p:nvSpPr>
          <p:cNvPr id="4" name="TextBox 3"/>
          <p:cNvSpPr txBox="1"/>
          <p:nvPr/>
        </p:nvSpPr>
        <p:spPr>
          <a:xfrm>
            <a:off x="777240" y="868680"/>
            <a:ext cx="10637215" cy="411480"/>
          </a:xfrm>
          <a:prstGeom prst="rect">
            <a:avLst/>
          </a:prstGeom>
          <a:noFill/>
        </p:spPr>
        <p:txBody>
          <a:bodyPr wrap="none">
            <a:spAutoFit/>
          </a:bodyPr>
          <a:lstStyle/>
          <a:p>
            <a:pPr algn="ctr">
              <a:defRPr sz="1200" b="1">
                <a:solidFill>
                  <a:srgbClr val="4A1C70"/>
                </a:solidFill>
                <a:latin typeface="Segoe UI"/>
              </a:defRPr>
            </a:pPr>
            <a:r>
              <a:t>THE COLOR PURPLE IN RELATION TO MODERN TECHNOLOGY (2/2)</a:t>
            </a:r>
          </a:p>
        </p:txBody>
      </p:sp>
      <p:graphicFrame>
        <p:nvGraphicFramePr>
          <p:cNvPr id="5" name="Table 4"/>
          <p:cNvGraphicFramePr>
            <a:graphicFrameLocks noGrp="1"/>
          </p:cNvGraphicFramePr>
          <p:nvPr/>
        </p:nvGraphicFramePr>
        <p:xfrm>
          <a:off x="777240" y="1371600"/>
          <a:ext cx="10637215" cy="4937760"/>
        </p:xfrm>
        <a:graphic>
          <a:graphicData uri="http://schemas.openxmlformats.org/drawingml/2006/table">
            <a:tbl>
              <a:tblPr firstRow="1" bandRow="1">
                <a:tableStyleId>{5C22544A-7EE6-4342-B048-85BDC9FD1C3A}</a:tableStyleId>
              </a:tblPr>
              <a:tblGrid>
                <a:gridCol w="2926080"/>
                <a:gridCol w="7711135"/>
              </a:tblGrid>
              <a:tr h="1234440">
                <a:tc>
                  <a:txBody>
                    <a:bodyPr/>
                    <a:lstStyle/>
                    <a:p>
                      <a:pPr>
                        <a:defRPr sz="1000" b="1">
                          <a:solidFill>
                            <a:srgbClr val="FFFFFF"/>
                          </a:solidFill>
                          <a:latin typeface="Segoe UI"/>
                        </a:defRPr>
                      </a:pPr>
                      <a:r>
                        <a:t>C O N C E P T</a:t>
                      </a:r>
                      <a:br/>
                      <a:r>
                        <a:t>M O D E R N   T E C H N O L O G Y</a:t>
                      </a:r>
                    </a:p>
                  </a:txBody>
                  <a:tcPr>
                    <a:solidFill>
                      <a:srgbClr val="3B1C54"/>
                    </a:solidFill>
                  </a:tcPr>
                </a:tc>
                <a:tc>
                  <a:txBody>
                    <a:bodyPr/>
                    <a:lstStyle/>
                    <a:p>
                      <a:pPr>
                        <a:defRPr sz="1000" b="1">
                          <a:solidFill>
                            <a:srgbClr val="FFFFFF"/>
                          </a:solidFill>
                          <a:latin typeface="Segoe UI"/>
                        </a:defRPr>
                      </a:pPr>
                      <a:r>
                        <a:t>P A R A L L E L</a:t>
                      </a:r>
                      <a:br/>
                      <a:r>
                        <a:t>T H E   C O L O R   P U R P L E</a:t>
                      </a:r>
                    </a:p>
                  </a:txBody>
                  <a:tcPr>
                    <a:solidFill>
                      <a:srgbClr val="3B1C54"/>
                    </a:solidFill>
                  </a:tcPr>
                </a:tc>
              </a:tr>
              <a:tr h="1234440">
                <a:tc>
                  <a:txBody>
                    <a:bodyPr/>
                    <a:lstStyle/>
                    <a:p>
                      <a:pPr>
                        <a:defRPr sz="1000" b="1">
                          <a:solidFill>
                            <a:srgbClr val="4A1C70"/>
                          </a:solidFill>
                          <a:latin typeface="Segoe UI"/>
                        </a:defRPr>
                      </a:pPr>
                      <a:r>
                        <a:t>Protocol Switching &amp; Endpoint DNS Rerouting</a:t>
                      </a:r>
                    </a:p>
                  </a:txBody>
                  <a:tcPr>
                    <a:solidFill>
                      <a:srgbClr val="FFFFFF"/>
                    </a:solidFill>
                  </a:tcPr>
                </a:tc>
                <a:tc>
                  <a:txBody>
                    <a:bodyPr/>
                    <a:lstStyle/>
                    <a:p>
                      <a:pPr>
                        <a:lnSpc>
                          <a:spcPct val="130000"/>
                        </a:lnSpc>
                        <a:defRPr sz="950">
                          <a:solidFill>
                            <a:srgbClr val="221E28"/>
                          </a:solidFill>
                          <a:latin typeface="Segoe UI"/>
                        </a:defRPr>
                      </a:pPr>
                      <a:r>
                        <a:t>When Celie changes her letter recipient from 'Dear God' to 'Dear Nettie' in Letter 69, she performs an architectural DNS reroute. She shifts from broadcasting requests to a silent, unresponsive legacy host to establishing an authenticated peer-to-peer encrypted channel with her sister.</a:t>
                      </a:r>
                    </a:p>
                  </a:txBody>
                  <a:tcPr>
                    <a:solidFill>
                      <a:srgbClr val="FFFFFF"/>
                    </a:solidFill>
                  </a:tcPr>
                </a:tc>
              </a:tr>
              <a:tr h="1234440">
                <a:tc>
                  <a:txBody>
                    <a:bodyPr/>
                    <a:lstStyle/>
                    <a:p>
                      <a:pPr>
                        <a:defRPr sz="1000" b="1">
                          <a:solidFill>
                            <a:srgbClr val="4A1C70"/>
                          </a:solidFill>
                          <a:latin typeface="Segoe UI"/>
                        </a:defRPr>
                      </a:pPr>
                      <a:r>
                        <a:t>Open-Source Commons vs Proprietary Lock-In</a:t>
                      </a:r>
                    </a:p>
                  </a:txBody>
                  <a:tcPr>
                    <a:solidFill>
                      <a:srgbClr val="F6F3EE"/>
                    </a:solidFill>
                  </a:tcPr>
                </a:tc>
                <a:tc>
                  <a:txBody>
                    <a:bodyPr/>
                    <a:lstStyle/>
                    <a:p>
                      <a:pPr>
                        <a:lnSpc>
                          <a:spcPct val="130000"/>
                        </a:lnSpc>
                        <a:defRPr sz="950">
                          <a:solidFill>
                            <a:srgbClr val="221E28"/>
                          </a:solidFill>
                          <a:latin typeface="Segoe UI"/>
                        </a:defRPr>
                      </a:pPr>
                      <a:r>
                        <a:t>The Olinka roofleaf represents sustainable, shared open-source commons. The English rubber company's bulldozers represent predatory vendor lock-in—destroying open community infrastructure and charging recurring licenses/rent on basic survival (land and water taxes).</a:t>
                      </a:r>
                    </a:p>
                  </a:txBody>
                  <a:tcPr>
                    <a:solidFill>
                      <a:srgbClr val="F6F3EE"/>
                    </a:solidFill>
                  </a:tcPr>
                </a:tc>
              </a:tr>
              <a:tr h="1234440">
                <a:tc>
                  <a:txBody>
                    <a:bodyPr/>
                    <a:lstStyle/>
                    <a:p>
                      <a:pPr>
                        <a:defRPr sz="1000" b="1">
                          <a:solidFill>
                            <a:srgbClr val="4A1C70"/>
                          </a:solidFill>
                          <a:latin typeface="Segoe UI"/>
                        </a:defRPr>
                      </a:pPr>
                      <a:r>
                        <a:t>Intersectional AI &amp; Algorithmic Bias Auditing</a:t>
                      </a:r>
                    </a:p>
                  </a:txBody>
                  <a:tcPr>
                    <a:solidFill>
                      <a:srgbClr val="FFFFFF"/>
                    </a:solidFill>
                  </a:tcPr>
                </a:tc>
                <a:tc>
                  <a:txBody>
                    <a:bodyPr/>
                    <a:lstStyle/>
                    <a:p>
                      <a:pPr>
                        <a:lnSpc>
                          <a:spcPct val="130000"/>
                        </a:lnSpc>
                        <a:defRPr sz="950">
                          <a:solidFill>
                            <a:srgbClr val="221E28"/>
                          </a:solidFill>
                          <a:latin typeface="Segoe UI"/>
                        </a:defRPr>
                      </a:pPr>
                      <a:r>
                        <a:t>Womanism requires evaluating intersecting variables (race, gender, class). In computing, Buolamwini &amp; Gebru's 'Gender Shades' study proved facial-analysis models fail when trained on monolithic data. Evaluating systems along intersectional axes prevents systemic bias and protects marginalized users.</a:t>
                      </a:r>
                    </a:p>
                  </a:txBody>
                  <a:tcP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548640"/>
          </a:xfrm>
          <a:prstGeom prst="rect">
            <a:avLst/>
          </a:prstGeom>
          <a:noFill/>
        </p:spPr>
        <p:txBody>
          <a:bodyPr wrap="none">
            <a:spAutoFit/>
          </a:bodyPr>
          <a:lstStyle/>
          <a:p>
            <a:pPr>
              <a:defRPr sz="3600" b="1" i="1">
                <a:solidFill>
                  <a:srgbClr val="4A1C70"/>
                </a:solidFill>
                <a:latin typeface="Georgia"/>
              </a:defRPr>
            </a:pPr>
            <a:r>
              <a:t>Question</a:t>
            </a:r>
          </a:p>
        </p:txBody>
      </p:sp>
      <p:sp>
        <p:nvSpPr>
          <p:cNvPr id="4" name="TextBox 3"/>
          <p:cNvSpPr txBox="1"/>
          <p:nvPr/>
        </p:nvSpPr>
        <p:spPr>
          <a:xfrm>
            <a:off x="914400" y="1371600"/>
            <a:ext cx="10362895" cy="548640"/>
          </a:xfrm>
          <a:prstGeom prst="rect">
            <a:avLst/>
          </a:prstGeom>
          <a:noFill/>
        </p:spPr>
        <p:txBody>
          <a:bodyPr wrap="none">
            <a:spAutoFit/>
          </a:bodyPr>
          <a:lstStyle/>
          <a:p>
            <a:pPr>
              <a:defRPr sz="1200" b="1">
                <a:solidFill>
                  <a:srgbClr val="4A1C70"/>
                </a:solidFill>
                <a:latin typeface="Segoe UI"/>
              </a:defRPr>
            </a:pPr>
            <a:r>
              <a:t>HOW DOES THE COLOR PURPLE'S EPISTOLARY ARCHITECTURE INFORM MODERN INFORMATION SECURITY &amp; PROTOCOL DESIGN?</a:t>
            </a:r>
          </a:p>
        </p:txBody>
      </p:sp>
      <p:sp>
        <p:nvSpPr>
          <p:cNvPr id="5" name="Rectangle 4"/>
          <p:cNvSpPr/>
          <p:nvPr/>
        </p:nvSpPr>
        <p:spPr>
          <a:xfrm>
            <a:off x="914400" y="2011680"/>
            <a:ext cx="10362895" cy="18288"/>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286000"/>
            <a:ext cx="10362895" cy="3931920"/>
          </a:xfrm>
          <a:prstGeom prst="rect">
            <a:avLst/>
          </a:prstGeom>
          <a:noFill/>
        </p:spPr>
        <p:txBody>
          <a:bodyPr wrap="square">
            <a:spAutoFit/>
          </a:bodyPr>
          <a:lstStyle/>
          <a:p>
            <a:pPr>
              <a:spcBef>
                <a:spcPts val="0"/>
              </a:spcBef>
              <a:defRPr sz="1400" b="1">
                <a:solidFill>
                  <a:srgbClr val="4A1C70"/>
                </a:solidFill>
                <a:latin typeface="Georgia"/>
              </a:defRPr>
            </a:pPr>
            <a:r>
              <a:t>1. The Vulnerability of Centralized Gatekeepers</a:t>
            </a:r>
          </a:p>
          <a:p>
            <a:pPr>
              <a:spcBef>
                <a:spcPts val="300"/>
              </a:spcBef>
              <a:defRPr sz="1100">
                <a:solidFill>
                  <a:srgbClr val="221E28"/>
                </a:solidFill>
                <a:latin typeface="Segoe UI"/>
              </a:defRPr>
            </a:pPr>
            <a:r>
              <a:t>Celie's prolonged abuse was enabled because Albert held exclusive monopolistic control over physical packet ingress and egress. In IT, single-gateway architectures without redundant routing are inherently vulnerable to censorship and data loss.</a:t>
            </a:r>
          </a:p>
          <a:p>
            <a:pPr>
              <a:spcBef>
                <a:spcPts val="1200"/>
              </a:spcBef>
              <a:defRPr sz="1400" b="1">
                <a:solidFill>
                  <a:srgbClr val="4A1C70"/>
                </a:solidFill>
                <a:latin typeface="Georgia"/>
              </a:defRPr>
            </a:pPr>
            <a:r>
              <a:t>2. Cryptographic Secrecy as Survival</a:t>
            </a:r>
          </a:p>
          <a:p>
            <a:pPr>
              <a:spcBef>
                <a:spcPts val="300"/>
              </a:spcBef>
              <a:defRPr sz="1100">
                <a:solidFill>
                  <a:srgbClr val="221E28"/>
                </a:solidFill>
                <a:latin typeface="Segoe UI"/>
              </a:defRPr>
            </a:pPr>
            <a:r>
              <a:t>Celie's letters to God functioned as an encrypted journal—accessible only to the author and the trusted recipient. This demonstrates why end-to-end encryption is not merely a technical luxury, but a vital human right for marginalized populations.</a:t>
            </a:r>
          </a:p>
          <a:p>
            <a:pPr>
              <a:spcBef>
                <a:spcPts val="1200"/>
              </a:spcBef>
              <a:defRPr sz="1400" b="1">
                <a:solidFill>
                  <a:srgbClr val="4A1C70"/>
                </a:solidFill>
                <a:latin typeface="Georgia"/>
              </a:defRPr>
            </a:pPr>
            <a:r>
              <a:t>3. Refactoring Deadly Failures</a:t>
            </a:r>
          </a:p>
          <a:p>
            <a:pPr>
              <a:spcBef>
                <a:spcPts val="300"/>
              </a:spcBef>
              <a:defRPr sz="1100">
                <a:solidFill>
                  <a:srgbClr val="221E28"/>
                </a:solidFill>
                <a:latin typeface="Segoe UI"/>
              </a:defRPr>
            </a:pPr>
            <a:r>
              <a:t>Celie refactoring homicidal rage into commercial pants production illustrates that system deadlocks and catastrophic race conditions are best resolved by redirecting energy into constructive, scalable pipelines rather than executing destructive halts.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E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48640"/>
            <a:ext cx="10515600" cy="548640"/>
          </a:xfrm>
          <a:prstGeom prst="rect">
            <a:avLst/>
          </a:prstGeom>
          <a:noFill/>
        </p:spPr>
        <p:txBody>
          <a:bodyPr wrap="none">
            <a:spAutoFit/>
          </a:bodyPr>
          <a:lstStyle/>
          <a:p>
            <a:pPr>
              <a:defRPr sz="2400" b="1" i="1">
                <a:solidFill>
                  <a:srgbClr val="4A1C70"/>
                </a:solidFill>
                <a:latin typeface="Georgia"/>
              </a:defRPr>
            </a:pPr>
            <a:r>
              <a:t>Addition: Symbolism &amp; Depictions in Modern Media</a:t>
            </a:r>
          </a:p>
        </p:txBody>
      </p:sp>
      <p:sp>
        <p:nvSpPr>
          <p:cNvPr id="4" name="Rectangle 3"/>
          <p:cNvSpPr/>
          <p:nvPr/>
        </p:nvSpPr>
        <p:spPr>
          <a:xfrm>
            <a:off x="777240" y="1188720"/>
            <a:ext cx="10607040" cy="18288"/>
          </a:xfrm>
          <a:prstGeom prst="rect">
            <a:avLst/>
          </a:prstGeom>
          <a:solidFill>
            <a:srgbClr val="4A1C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371600"/>
            <a:ext cx="3456432" cy="484632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54480"/>
            <a:ext cx="3090672" cy="4389120"/>
          </a:xfrm>
          <a:prstGeom prst="rect">
            <a:avLst/>
          </a:prstGeom>
          <a:noFill/>
        </p:spPr>
        <p:txBody>
          <a:bodyPr wrap="square">
            <a:spAutoFit/>
          </a:bodyPr>
          <a:lstStyle/>
          <a:p>
            <a:pPr>
              <a:defRPr sz="1500" b="1">
                <a:solidFill>
                  <a:srgbClr val="4A1C70"/>
                </a:solidFill>
                <a:latin typeface="Georgia"/>
              </a:defRPr>
            </a:pPr>
            <a:r>
              <a:t>A. Symbolic Colors</a:t>
            </a:r>
          </a:p>
          <a:p>
            <a:pPr>
              <a:spcBef>
                <a:spcPts val="200"/>
              </a:spcBef>
              <a:defRPr sz="1000" i="1">
                <a:solidFill>
                  <a:srgbClr val="881E44"/>
                </a:solidFill>
                <a:latin typeface="Segoe UI"/>
              </a:defRPr>
            </a:pPr>
            <a:r>
              <a:t>Chromatic Meaning in the Novel</a:t>
            </a:r>
          </a:p>
          <a:p>
            <a:pPr>
              <a:spcBef>
                <a:spcPts val="600"/>
              </a:spcBef>
              <a:defRPr sz="950">
                <a:solidFill>
                  <a:srgbClr val="221E28"/>
                </a:solidFill>
                <a:latin typeface="Segoe UI"/>
              </a:defRPr>
            </a:pPr>
            <a:r>
              <a:rPr b="1"/>
              <a:t>• Purple: Ambivalent and divine; signifies God's gift of beauty in nature, royal dignity, and spiritual resurrection.</a:t>
            </a:r>
          </a:p>
          <a:p>
            <a:pPr>
              <a:spcBef>
                <a:spcPts val="600"/>
              </a:spcBef>
              <a:defRPr sz="950">
                <a:solidFill>
                  <a:srgbClr val="221E28"/>
                </a:solidFill>
                <a:latin typeface="Segoe UI"/>
              </a:defRPr>
            </a:pPr>
            <a:r>
              <a:rPr b="1"/>
              <a:t>• Red: Associated with passion, sexual vitality, and defiance (Shug's red dress, blood, courage).</a:t>
            </a:r>
          </a:p>
          <a:p>
            <a:pPr>
              <a:spcBef>
                <a:spcPts val="600"/>
              </a:spcBef>
              <a:defRPr sz="950">
                <a:solidFill>
                  <a:srgbClr val="221E28"/>
                </a:solidFill>
                <a:latin typeface="Segoe UI"/>
              </a:defRPr>
            </a:pPr>
            <a:r>
              <a:rPr b="1"/>
              <a:t>• Blue / Yellow: Blue pants represent peace and creative craft; yellow floor represents morning sunlight, optimism, and warmth.</a:t>
            </a:r>
          </a:p>
        </p:txBody>
      </p:sp>
      <p:sp>
        <p:nvSpPr>
          <p:cNvPr id="7" name="Rounded Rectangle 6"/>
          <p:cNvSpPr/>
          <p:nvPr/>
        </p:nvSpPr>
        <p:spPr>
          <a:xfrm>
            <a:off x="4416552" y="1371600"/>
            <a:ext cx="3456432" cy="484632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99432" y="1554480"/>
            <a:ext cx="3090672" cy="4389120"/>
          </a:xfrm>
          <a:prstGeom prst="rect">
            <a:avLst/>
          </a:prstGeom>
          <a:noFill/>
        </p:spPr>
        <p:txBody>
          <a:bodyPr wrap="square">
            <a:spAutoFit/>
          </a:bodyPr>
          <a:lstStyle/>
          <a:p>
            <a:pPr>
              <a:defRPr sz="1500" b="1">
                <a:solidFill>
                  <a:srgbClr val="4A1C70"/>
                </a:solidFill>
                <a:latin typeface="Georgia"/>
              </a:defRPr>
            </a:pPr>
            <a:r>
              <a:t>B. Sacred Objects</a:t>
            </a:r>
          </a:p>
          <a:p>
            <a:pPr>
              <a:spcBef>
                <a:spcPts val="200"/>
              </a:spcBef>
              <a:defRPr sz="1000" i="1">
                <a:solidFill>
                  <a:srgbClr val="881E44"/>
                </a:solidFill>
                <a:latin typeface="Segoe UI"/>
              </a:defRPr>
            </a:pPr>
            <a:r>
              <a:t>Artifacts of Struggle &amp; Agency</a:t>
            </a:r>
          </a:p>
          <a:p>
            <a:pPr>
              <a:spcBef>
                <a:spcPts val="600"/>
              </a:spcBef>
              <a:defRPr sz="950">
                <a:solidFill>
                  <a:srgbClr val="221E28"/>
                </a:solidFill>
                <a:latin typeface="Segoe UI"/>
              </a:defRPr>
            </a:pPr>
            <a:r>
              <a:rPr b="1"/>
              <a:t>• The Needle vs Razor: The razor represents violent destruction; the needle represents constructive healing and economic agency.</a:t>
            </a:r>
          </a:p>
          <a:p>
            <a:pPr>
              <a:spcBef>
                <a:spcPts val="600"/>
              </a:spcBef>
              <a:defRPr sz="950">
                <a:solidFill>
                  <a:srgbClr val="221E28"/>
                </a:solidFill>
                <a:latin typeface="Segoe UI"/>
              </a:defRPr>
            </a:pPr>
            <a:r>
              <a:rPr b="1"/>
              <a:t>• Albert's Trunk: Centralized, locked offline cache concealing suppressed memory and withheld family communication.</a:t>
            </a:r>
          </a:p>
          <a:p>
            <a:pPr>
              <a:spcBef>
                <a:spcPts val="600"/>
              </a:spcBef>
              <a:defRPr sz="950">
                <a:solidFill>
                  <a:srgbClr val="221E28"/>
                </a:solidFill>
                <a:latin typeface="Segoe UI"/>
              </a:defRPr>
            </a:pPr>
            <a:r>
              <a:rPr b="1"/>
              <a:t>• The Quilt (Sister's Choice): Pieced from scraps; symbolizes diverse women stitching together their lives in communal sisterhood.</a:t>
            </a:r>
          </a:p>
        </p:txBody>
      </p:sp>
      <p:sp>
        <p:nvSpPr>
          <p:cNvPr id="9" name="Rounded Rectangle 8"/>
          <p:cNvSpPr/>
          <p:nvPr/>
        </p:nvSpPr>
        <p:spPr>
          <a:xfrm>
            <a:off x="8055864" y="1371600"/>
            <a:ext cx="3456432" cy="4846320"/>
          </a:xfrm>
          <a:prstGeom prst="roundRect">
            <a:avLst/>
          </a:prstGeom>
          <a:solidFill>
            <a:srgbClr val="FFFFFF"/>
          </a:solidFill>
          <a:ln w="19050">
            <a:solidFill>
              <a:srgbClr val="4A1C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8744" y="1554480"/>
            <a:ext cx="3090672" cy="4389120"/>
          </a:xfrm>
          <a:prstGeom prst="rect">
            <a:avLst/>
          </a:prstGeom>
          <a:noFill/>
        </p:spPr>
        <p:txBody>
          <a:bodyPr wrap="square">
            <a:spAutoFit/>
          </a:bodyPr>
          <a:lstStyle/>
          <a:p>
            <a:pPr>
              <a:defRPr sz="1500" b="1">
                <a:solidFill>
                  <a:srgbClr val="4A1C70"/>
                </a:solidFill>
                <a:latin typeface="Georgia"/>
              </a:defRPr>
            </a:pPr>
            <a:r>
              <a:t>C. Depictions in Media</a:t>
            </a:r>
          </a:p>
          <a:p>
            <a:pPr>
              <a:spcBef>
                <a:spcPts val="200"/>
              </a:spcBef>
              <a:defRPr sz="1000" i="1">
                <a:solidFill>
                  <a:srgbClr val="881E44"/>
                </a:solidFill>
                <a:latin typeface="Segoe UI"/>
              </a:defRPr>
            </a:pPr>
            <a:r>
              <a:t>Cinematic &amp; Broadway Adaptations</a:t>
            </a:r>
          </a:p>
          <a:p>
            <a:pPr>
              <a:spcBef>
                <a:spcPts val="600"/>
              </a:spcBef>
              <a:defRPr sz="950">
                <a:solidFill>
                  <a:srgbClr val="221E28"/>
                </a:solidFill>
                <a:latin typeface="Segoe UI"/>
              </a:defRPr>
            </a:pPr>
            <a:r>
              <a:rPr b="1"/>
              <a:t>• 1985 Spielberg Film: 11 Academy Award nominations; introduced Whoopi Goldberg (Celie) and Oprah Winfrey (Sofia).</a:t>
            </a:r>
          </a:p>
          <a:p>
            <a:pPr>
              <a:spcBef>
                <a:spcPts val="600"/>
              </a:spcBef>
              <a:defRPr sz="950">
                <a:solidFill>
                  <a:srgbClr val="221E28"/>
                </a:solidFill>
                <a:latin typeface="Segoe UI"/>
              </a:defRPr>
            </a:pPr>
            <a:r>
              <a:rPr b="1"/>
              <a:t>• 2005/2015 Broadway Musical: Produced by Oprah Winfrey &amp; Quincy Jones; won Tony Award for Best Revival of a Musical (Cynthia Erivo).</a:t>
            </a:r>
          </a:p>
          <a:p>
            <a:pPr>
              <a:spcBef>
                <a:spcPts val="600"/>
              </a:spcBef>
              <a:defRPr sz="950">
                <a:solidFill>
                  <a:srgbClr val="221E28"/>
                </a:solidFill>
                <a:latin typeface="Segoe UI"/>
              </a:defRPr>
            </a:pPr>
            <a:r>
              <a:rPr b="1"/>
              <a:t>• 2023 Musical Feature Film: Directed by Blitz Bazawule, reaffirming the timeless vitality of Walker's message.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0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731520"/>
            <a:ext cx="8534095" cy="1097280"/>
          </a:xfrm>
          <a:prstGeom prst="rect">
            <a:avLst/>
          </a:prstGeom>
          <a:noFill/>
        </p:spPr>
        <p:txBody>
          <a:bodyPr wrap="none">
            <a:spAutoFit/>
          </a:bodyPr>
          <a:lstStyle/>
          <a:p>
            <a:pPr algn="ctr">
              <a:defRPr sz="4400" b="1" i="1">
                <a:solidFill>
                  <a:srgbClr val="F5F2EB"/>
                </a:solidFill>
                <a:latin typeface="Georgia"/>
              </a:defRPr>
            </a:pPr>
            <a:r>
              <a:t>Thank You!</a:t>
            </a:r>
          </a:p>
          <a:p>
            <a:pPr algn="ctr">
              <a:spcBef>
                <a:spcPts val="400"/>
              </a:spcBef>
              <a:defRPr sz="1300" b="1">
                <a:solidFill>
                  <a:srgbClr val="C8A038"/>
                </a:solidFill>
                <a:latin typeface="Segoe UI"/>
              </a:defRPr>
            </a:pPr>
            <a:r>
              <a:t>R E F E R E N C E S</a:t>
            </a:r>
          </a:p>
        </p:txBody>
      </p:sp>
      <p:sp>
        <p:nvSpPr>
          <p:cNvPr id="4" name="TextBox 3"/>
          <p:cNvSpPr txBox="1"/>
          <p:nvPr/>
        </p:nvSpPr>
        <p:spPr>
          <a:xfrm>
            <a:off x="1097280" y="2011680"/>
            <a:ext cx="9966960" cy="4389120"/>
          </a:xfrm>
          <a:prstGeom prst="rect">
            <a:avLst/>
          </a:prstGeom>
          <a:noFill/>
        </p:spPr>
        <p:txBody>
          <a:bodyPr wrap="square">
            <a:spAutoFit/>
          </a:bodyPr>
          <a:lstStyle/>
          <a:p>
            <a:pPr>
              <a:lnSpc>
                <a:spcPct val="125000"/>
              </a:lnSpc>
              <a:spcAft>
                <a:spcPts val="400"/>
              </a:spcAft>
              <a:defRPr sz="950">
                <a:solidFill>
                  <a:srgbClr val="F5F2EB"/>
                </a:solidFill>
                <a:latin typeface="Segoe UI"/>
              </a:defRPr>
            </a:pPr>
            <a:r>
              <a:t>• Buolamwini, J., &amp; Gebru, T. (2018). Gender shades: Intersectional accuracy disparities in commercial gender classification. Proceedings of Machine Learning Research, 81, 77–91.</a:t>
            </a:r>
          </a:p>
          <a:p>
            <a:pPr>
              <a:lnSpc>
                <a:spcPct val="125000"/>
              </a:lnSpc>
              <a:spcAft>
                <a:spcPts val="400"/>
              </a:spcAft>
              <a:defRPr sz="950">
                <a:solidFill>
                  <a:srgbClr val="F5F2EB"/>
                </a:solidFill>
                <a:latin typeface="Segoe UI"/>
              </a:defRPr>
            </a:pPr>
            <a:r>
              <a:t>• Encyclopaedia Britannica. (n.d.). The Color Purple. Retrieved October 1, 2026, from https://www.britannica.com/topic/The-Color-Purple</a:t>
            </a:r>
          </a:p>
          <a:p>
            <a:pPr>
              <a:lnSpc>
                <a:spcPct val="125000"/>
              </a:lnSpc>
              <a:spcAft>
                <a:spcPts val="400"/>
              </a:spcAft>
              <a:defRPr sz="950">
                <a:solidFill>
                  <a:srgbClr val="F5F2EB"/>
                </a:solidFill>
                <a:latin typeface="Segoe UI"/>
              </a:defRPr>
            </a:pPr>
            <a:r>
              <a:t>• Encyclopaedia Britannica. (n.d.). Womanism. Retrieved October 1, 2026, from https://www.britannica.com/topic/womanism</a:t>
            </a:r>
          </a:p>
          <a:p>
            <a:pPr>
              <a:lnSpc>
                <a:spcPct val="125000"/>
              </a:lnSpc>
              <a:spcAft>
                <a:spcPts val="400"/>
              </a:spcAft>
              <a:defRPr sz="950">
                <a:solidFill>
                  <a:srgbClr val="F5F2EB"/>
                </a:solidFill>
                <a:latin typeface="Segoe UI"/>
              </a:defRPr>
            </a:pPr>
            <a:r>
              <a:t>• Garcia, Carolina U., Piedad G. Rosales, and Corinta G. Barranco. A Study of Literary Types and Forms. UST Publishing House, 2000.</a:t>
            </a:r>
          </a:p>
          <a:p>
            <a:pPr>
              <a:lnSpc>
                <a:spcPct val="125000"/>
              </a:lnSpc>
              <a:spcAft>
                <a:spcPts val="400"/>
              </a:spcAft>
              <a:defRPr sz="950">
                <a:solidFill>
                  <a:srgbClr val="F5F2EB"/>
                </a:solidFill>
                <a:latin typeface="Segoe UI"/>
              </a:defRPr>
            </a:pPr>
            <a:r>
              <a:t>• National Institute of Standards and Technology. (n.d.). CIA Triad. NIST Computer Security Resource Center Glossary. Retrieved October 1, 2026, from https://csrc.nist.gov/glossary/term/CIA</a:t>
            </a:r>
          </a:p>
          <a:p>
            <a:pPr>
              <a:lnSpc>
                <a:spcPct val="125000"/>
              </a:lnSpc>
              <a:spcAft>
                <a:spcPts val="400"/>
              </a:spcAft>
              <a:defRPr sz="950">
                <a:solidFill>
                  <a:srgbClr val="F5F2EB"/>
                </a:solidFill>
                <a:latin typeface="Segoe UI"/>
              </a:defRPr>
            </a:pPr>
            <a:r>
              <a:t>• SparkNotes Editors. (n.d.). The Color Purple: Letters 61–69 Summary &amp; Analysis; Plot Overview; Symbols. SparkNotes LLC. Retrieved October 1, 2026, from https://www.sparknotes.com/lit/purple/section6/</a:t>
            </a:r>
          </a:p>
          <a:p>
            <a:pPr>
              <a:lnSpc>
                <a:spcPct val="125000"/>
              </a:lnSpc>
              <a:spcAft>
                <a:spcPts val="400"/>
              </a:spcAft>
              <a:defRPr sz="950">
                <a:solidFill>
                  <a:srgbClr val="F5F2EB"/>
                </a:solidFill>
                <a:latin typeface="Segoe UI"/>
              </a:defRPr>
            </a:pPr>
            <a:r>
              <a:t>• Walker, Alice. (1982). The Color Purple. Harcourt Brace Jovanovich. (Electronic Edition: Open Road Integrated Media, New York, 2011).</a:t>
            </a:r>
          </a:p>
          <a:p>
            <a:pPr>
              <a:lnSpc>
                <a:spcPct val="125000"/>
              </a:lnSpc>
              <a:spcAft>
                <a:spcPts val="400"/>
              </a:spcAft>
              <a:defRPr sz="950">
                <a:solidFill>
                  <a:srgbClr val="F5F2EB"/>
                </a:solidFill>
                <a:latin typeface="Segoe UI"/>
              </a:defRPr>
            </a:pPr>
            <a:r>
              <a:t>• Walker, Alice. (1983). In Search of Our Mothers' Gardens: Womanist Prose. San Diego: Harcourt Brace Jovanovich.</a:t>
            </a:r>
          </a:p>
          <a:p>
            <a:pPr>
              <a:lnSpc>
                <a:spcPct val="125000"/>
              </a:lnSpc>
              <a:spcAft>
                <a:spcPts val="400"/>
              </a:spcAft>
              <a:defRPr sz="950">
                <a:solidFill>
                  <a:srgbClr val="F5F2EB"/>
                </a:solidFill>
                <a:latin typeface="Segoe UI"/>
              </a:defRPr>
            </a:pPr>
            <a:r>
              <a:t>• Walker, Alice. (1992). 'Preface.' The Color Purple (Tenth Anniversary Edition). New York: Harcourt Brace &amp; Company.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